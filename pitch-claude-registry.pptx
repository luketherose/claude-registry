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100FF"/>
                </a:solidFill>
                <a:latin typeface="Arial"/>
              </a:rPr>
              <a:t>Accenture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887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Palatino Linotype"/>
              </a:rPr>
              <a:t>Claude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77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BE82FF"/>
                </a:solidFill>
                <a:latin typeface="Arial"/>
              </a:rPr>
              <a:t>Capability condivise per il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08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6DC"/>
                </a:solidFill>
                <a:latin typeface="Arial"/>
              </a:rPr>
              <a:t>Come trasformare l'uso individuale di Claude Code
in un asset condiviso dell'organizzazione.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160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6968C"/>
                </a:solidFill>
                <a:latin typeface="Arial"/>
              </a:rPr>
              <a:t>Aprile 2026  |  Team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" y="6355080"/>
            <a:ext cx="12124944" cy="54864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Il Problema: uso individuale, nessun asset condiviso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31520"/>
            <a:ext cx="11365992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303520" cy="475488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04241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960120"/>
            <a:ext cx="6035040" cy="475488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16168" y="1042416"/>
            <a:ext cx="5852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Conseguenza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27048"/>
            <a:ext cx="5303520" cy="530352"/>
          </a:xfrm>
          <a:prstGeom prst="rect">
            <a:avLst/>
          </a:prstGeom>
          <a:solidFill>
            <a:srgbClr val="E6E6DC"/>
          </a:solidFill>
          <a:ln w="6350">
            <a:solidFill>
              <a:srgbClr val="BE8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440" y="1527048"/>
            <a:ext cx="6035040" cy="530352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618488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Ogni developer scrive il suo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6168" y="1618488"/>
            <a:ext cx="585215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Output diversi, nessuno standard condiviso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093976"/>
            <a:ext cx="5303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BE8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2093976"/>
            <a:ext cx="60350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185416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Un senior crea un ottimo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6168" y="2185416"/>
            <a:ext cx="585215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Rimane nel suo file — non si diffonde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660904"/>
            <a:ext cx="5303520" cy="530352"/>
          </a:xfrm>
          <a:prstGeom prst="rect">
            <a:avLst/>
          </a:prstGeom>
          <a:solidFill>
            <a:srgbClr val="E6E6DC"/>
          </a:solidFill>
          <a:ln w="6350">
            <a:solidFill>
              <a:srgbClr val="BE8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06440" y="2660904"/>
            <a:ext cx="6035040" cy="530352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752344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Nuovo collega inizia ad usare 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16168" y="2752344"/>
            <a:ext cx="585215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Ricomincia da zero, senza capitalizzare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27832"/>
            <a:ext cx="5303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BE8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06440" y="3227832"/>
            <a:ext cx="60350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3319272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Claude produce output inatteso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6168" y="3319272"/>
            <a:ext cx="585215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Nessuna tracciabilità su quale istruzione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794760"/>
            <a:ext cx="5303520" cy="530352"/>
          </a:xfrm>
          <a:prstGeom prst="rect">
            <a:avLst/>
          </a:prstGeom>
          <a:solidFill>
            <a:srgbClr val="E6E6DC"/>
          </a:solidFill>
          <a:ln w="6350">
            <a:solidFill>
              <a:srgbClr val="BE8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06440" y="3794760"/>
            <a:ext cx="6035040" cy="530352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3886200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Il team cambia standard (es. logging)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3886200"/>
            <a:ext cx="585215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Aggiornamenti inconsistenti tra sviluppatori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La Soluzione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E82FF"/>
                </a:solidFill>
                <a:latin typeface="Arial"/>
              </a:rPr>
              <a:t>Una capability è una specializzazione di Claude per un ruolo specifico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2606040" cy="256032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" y="2084832"/>
            <a:ext cx="320040" cy="32004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Comportamento
definito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AFFF"/>
                </a:solidFill>
                <a:latin typeface="Arial"/>
              </a:rPr>
              <a:t>Prompt system, tono, output format — tutto scritto e versionato.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920240"/>
            <a:ext cx="2606040" cy="256032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084832"/>
            <a:ext cx="320040" cy="32004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2487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Output
strutturato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320040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AFFF"/>
                </a:solidFill>
                <a:latin typeface="Arial"/>
              </a:rPr>
              <a:t>Ogni capability produce artefatti consistenti e prevedibili.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920240"/>
            <a:ext cx="2606040" cy="256032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1928" y="2084832"/>
            <a:ext cx="320040" cy="32004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2487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Standard
del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320040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AFFF"/>
                </a:solidFill>
                <a:latin typeface="Arial"/>
              </a:rPr>
              <a:t>Un'unica fonte di verità per come il team usa Claude Code.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0263" y="1920240"/>
            <a:ext cx="2606040" cy="256032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34855" y="2084832"/>
            <a:ext cx="320040" cy="32004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7424" y="2487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Aggiornabile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320040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AFFF"/>
                </a:solidFill>
                <a:latin typeface="Arial"/>
              </a:rPr>
              <a:t>Cambia il prompt, apri una PR, il team riceve l'update.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10 Capability disponibili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31520"/>
            <a:ext cx="11365992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1440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14400"/>
            <a:ext cx="54864" cy="502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926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software-architect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060704"/>
            <a:ext cx="685800" cy="2011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3512" y="107899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987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Analisi architetturale, ADR, trade-off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91440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914400"/>
            <a:ext cx="54864" cy="502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96926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functional-analyst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1060704"/>
            <a:ext cx="685800" cy="2011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51392" y="107899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987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Requisiti, use case, processi di business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50876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1508760"/>
            <a:ext cx="54864" cy="502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15636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developer-java-spring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1655063"/>
            <a:ext cx="685800" cy="2011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3512" y="1673351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1581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Sviluppo Java/Spring Boot enterprise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50876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508760"/>
            <a:ext cx="54864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5636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technical-analyst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1655063"/>
            <a:ext cx="685800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51392" y="1673351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1581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Debito tecnico, sicurezza, dipendenze vulnerabili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10312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2103120"/>
            <a:ext cx="54864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215798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developer-python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2249424"/>
            <a:ext cx="685800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53512" y="226771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2176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Sviluppo Python/FastAPI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10312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2103120"/>
            <a:ext cx="54864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215798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code-reviewer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23960" y="2249424"/>
            <a:ext cx="685800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1392" y="226771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176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Code review strutturata su PR o file modificati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69748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2697480"/>
            <a:ext cx="54864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27523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test-writer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80" y="2843784"/>
            <a:ext cx="685800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53512" y="286207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770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Test JUnit 5, Mockito, Testcontainers, pytest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269748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2697480"/>
            <a:ext cx="54864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27523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debugger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23960" y="2843784"/>
            <a:ext cx="685800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51392" y="286207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2770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Diagnosi bug da stack trace, log e codice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329184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11480" y="3291840"/>
            <a:ext cx="54864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3467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api-designer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80" y="3438144"/>
            <a:ext cx="685800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53512" y="345643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03320" y="33649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Design e review API REST, spec OpenAPI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3291840"/>
            <a:ext cx="5394960" cy="502920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09360" y="3291840"/>
            <a:ext cx="54864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33467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documentation-writer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23960" y="3438144"/>
            <a:ext cx="685800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851392" y="3456432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3649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README, runbook, guide architetturali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Perché adottarlo — Benefici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731520"/>
            <a:ext cx="11365992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520440" cy="292608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24712"/>
            <a:ext cx="502920" cy="50292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647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La seniority diventa scalabile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AFFF"/>
                </a:solidFill>
                <a:latin typeface="Arial"/>
              </a:rPr>
              <a:t>I prompt dei senior diventano standard del team,
non conoscenza personale non trasferibile.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960120"/>
            <a:ext cx="3520440" cy="292608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124712"/>
            <a:ext cx="502920" cy="50292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143000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7647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Onboarding in minuti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423160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AFFF"/>
                </a:solidFill>
                <a:latin typeface="Arial"/>
              </a:rPr>
              <a:t>Clona registry  →  setup-capabilities.sh  →  Apri Claude Code.
Nessun manuale da leggere.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960120"/>
            <a:ext cx="3520440" cy="292608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124712"/>
            <a:ext cx="502920" cy="50292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143000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Qualità verificabile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423160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AFFF"/>
                </a:solidFill>
                <a:latin typeface="Arial"/>
              </a:rPr>
              <a:t>PR review, GitHub Actions, SemVer.
Ogni modifica è approvata e tracciata.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Perché adottarlo — Benefici (continua)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731520"/>
            <a:ext cx="11365992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303520" cy="310896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" y="1143000"/>
            <a:ext cx="548640" cy="54864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16128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828800"/>
            <a:ext cx="4983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Governance reale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560320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CAFFF"/>
                </a:solidFill>
                <a:latin typeface="Arial"/>
              </a:rPr>
              <a:t>Branch protetto, git history, diff leggibili, PR history.
Non è una cartella Confluence: è infrastruttura.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960120"/>
            <a:ext cx="5303520" cy="3108960"/>
          </a:xfrm>
          <a:prstGeom prst="rect">
            <a:avLst/>
          </a:prstGeom>
          <a:solidFill>
            <a:srgbClr val="460073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3952" y="1143000"/>
            <a:ext cx="548640" cy="54864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16128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28800"/>
            <a:ext cx="4983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Conoscenza che non si perde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560320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CAFFF"/>
                </a:solidFill>
                <a:latin typeface="Arial"/>
              </a:rPr>
              <a:t>Quando un senior lascia il team,
le sue decisioni rimangono nel registry.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Come funziona — flusso di pubblicazione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31520"/>
            <a:ext cx="11365992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1" y="2103120"/>
            <a:ext cx="1572768" cy="173736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21307" y="2240279"/>
            <a:ext cx="402336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1307" y="225856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1" y="2761487"/>
            <a:ext cx="13898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Autore
scrive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8859" y="2935224"/>
            <a:ext cx="256032" cy="7315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4891" y="2103120"/>
            <a:ext cx="1572768" cy="1737360"/>
          </a:xfrm>
          <a:prstGeom prst="rect">
            <a:avLst/>
          </a:prstGeom>
          <a:solidFill>
            <a:srgbClr val="460073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50107" y="2240279"/>
            <a:ext cx="402336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0107" y="225856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6332" y="2761487"/>
            <a:ext cx="13898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Pull
Request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7659" y="2935224"/>
            <a:ext cx="256032" cy="7315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93692" y="2103120"/>
            <a:ext cx="1572768" cy="173736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78908" y="2240279"/>
            <a:ext cx="402336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8908" y="225856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5131" y="2761487"/>
            <a:ext cx="13898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GitHub Actions
valida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66459" y="2935224"/>
            <a:ext cx="256032" cy="7315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2103120"/>
            <a:ext cx="1572768" cy="1737360"/>
          </a:xfrm>
          <a:prstGeom prst="rect">
            <a:avLst/>
          </a:prstGeom>
          <a:solidFill>
            <a:srgbClr val="460073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07708" y="2240279"/>
            <a:ext cx="402336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7708" y="225856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3931" y="2761487"/>
            <a:ext cx="13898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Review
manuale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95260" y="2935224"/>
            <a:ext cx="256032" cy="7315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51292" y="2103120"/>
            <a:ext cx="1572768" cy="173736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36507" y="2240279"/>
            <a:ext cx="402336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6507" y="225856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2731" y="2761487"/>
            <a:ext cx="13898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Pubblicazione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24060" y="2935224"/>
            <a:ext cx="256032" cy="7315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80092" y="2103120"/>
            <a:ext cx="1572768" cy="1737360"/>
          </a:xfrm>
          <a:prstGeom prst="rect">
            <a:avLst/>
          </a:prstGeom>
          <a:solidFill>
            <a:srgbClr val="460073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465307" y="2240279"/>
            <a:ext cx="402336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7" y="225856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1532" y="2761487"/>
            <a:ext cx="13898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Team
installa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16052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6968C"/>
                </a:solidFill>
                <a:latin typeface="Arial"/>
              </a:rPr>
              <a:t>Ogni capability viene validata automaticamente (schema YAML, lint) e approvata da un maintainer prima di essere disponibile al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ROI stimato — risparmio concreto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31520"/>
            <a:ext cx="11365992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2560320" cy="1097280"/>
          </a:xfrm>
          <a:prstGeom prst="rect">
            <a:avLst/>
          </a:prstGeom>
          <a:solidFill>
            <a:srgbClr val="460073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E82FF"/>
                </a:solidFill>
                <a:latin typeface="Arial"/>
              </a:rPr>
              <a:t>€ 0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costo infrastruttura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9272" y="896112"/>
            <a:ext cx="2560320" cy="1097280"/>
          </a:xfrm>
          <a:prstGeom prst="rect">
            <a:avLst/>
          </a:prstGeom>
          <a:solidFill>
            <a:srgbClr val="460073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987552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E82FF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1517904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capability disponibili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7064" y="896112"/>
            <a:ext cx="2560320" cy="1097280"/>
          </a:xfrm>
          <a:prstGeom prst="rect">
            <a:avLst/>
          </a:prstGeom>
          <a:solidFill>
            <a:srgbClr val="460073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3" y="987552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E82FF"/>
                </a:solidFill>
                <a:latin typeface="Arial"/>
              </a:rPr>
              <a:t>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3" y="1517904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onboarding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34855" y="896112"/>
            <a:ext cx="2560320" cy="1097280"/>
          </a:xfrm>
          <a:prstGeom prst="rect">
            <a:avLst/>
          </a:prstGeom>
          <a:solidFill>
            <a:srgbClr val="460073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5" y="987552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E82FF"/>
                </a:solidFill>
                <a:latin typeface="Arial"/>
              </a:rPr>
              <a:t>2–4 h/w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5" y="1517904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risparmio per developer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12848"/>
            <a:ext cx="6583680" cy="438912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" y="2295144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Voce di risparmio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212848"/>
            <a:ext cx="4206240" cy="438912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8" y="2295144"/>
            <a:ext cx="4023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Risparmio stimato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715768"/>
            <a:ext cx="6583680" cy="466344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86600" y="2715768"/>
            <a:ext cx="4206240" cy="466344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279806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Capability già pronta vs. prompt da zero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798064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500C0"/>
                </a:solidFill>
                <a:latin typeface="Arial"/>
              </a:rPr>
              <a:t>20–40 min per task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218688"/>
            <a:ext cx="6583680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86600" y="3218688"/>
            <a:ext cx="4206240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330098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Eliminazione rework da bassa qualità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3300984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500C0"/>
                </a:solidFill>
                <a:latin typeface="Arial"/>
              </a:rPr>
              <a:t>1–2 h per sprint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721608"/>
            <a:ext cx="6583680" cy="466344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86600" y="3721608"/>
            <a:ext cx="4206240" cy="466344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380390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Onboarding su standard 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3803904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500C0"/>
                </a:solidFill>
                <a:latin typeface="Arial"/>
              </a:rPr>
              <a:t>1–2 giorni lavorativi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224528"/>
            <a:ext cx="6583680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86600" y="4224528"/>
            <a:ext cx="4206240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" y="43068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Identificazione regressioni su prompt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96328" y="4306824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500C0"/>
                </a:solidFill>
                <a:latin typeface="Arial"/>
              </a:rPr>
              <a:t>Variabile — evita escalation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Roadmap — da oggi a piena adozione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31520"/>
            <a:ext cx="11365992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2450592"/>
            <a:ext cx="256032" cy="36576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600200" cy="2377440"/>
          </a:xfrm>
          <a:prstGeom prst="rect">
            <a:avLst/>
          </a:prstGeom>
          <a:solidFill>
            <a:srgbClr val="E6E6DC"/>
          </a:solidFill>
          <a:ln w="254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600200" cy="4114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3502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FATTO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55648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31720"/>
            <a:ext cx="1417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Registry live, 10 capability, CI/CD attivo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22191" y="2450592"/>
            <a:ext cx="256032" cy="36576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21992" y="1280160"/>
            <a:ext cx="1600200" cy="2377440"/>
          </a:xfrm>
          <a:prstGeom prst="rect">
            <a:avLst/>
          </a:prstGeom>
          <a:solidFill>
            <a:srgbClr val="E6E6DC"/>
          </a:solidFill>
          <a:ln w="25400">
            <a:solidFill>
              <a:srgbClr val="75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21992" y="1280160"/>
            <a:ext cx="1600200" cy="411480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7712" y="133502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3432" y="1755648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Adozione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3432" y="2331720"/>
            <a:ext cx="1417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Il team clona il registry e installa le capability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78424" y="2450592"/>
            <a:ext cx="256032" cy="36576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78224" y="1280160"/>
            <a:ext cx="1600200" cy="2377440"/>
          </a:xfrm>
          <a:prstGeom prst="rect">
            <a:avLst/>
          </a:prstGeom>
          <a:solidFill>
            <a:srgbClr val="E6E6DC"/>
          </a:solidFill>
          <a:ln w="25400">
            <a:solidFill>
              <a:srgbClr val="46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78224" y="1280160"/>
            <a:ext cx="1600200" cy="411480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23944" y="133502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755648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9664" y="2331720"/>
            <a:ext cx="1417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Raccolta feedback, issue aperte, priorità condivise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34656" y="2450592"/>
            <a:ext cx="256032" cy="36576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34456" y="1280160"/>
            <a:ext cx="1600200" cy="2377440"/>
          </a:xfrm>
          <a:prstGeom prst="rect">
            <a:avLst/>
          </a:prstGeom>
          <a:solidFill>
            <a:srgbClr val="E6E6DC"/>
          </a:solidFill>
          <a:ln w="25400">
            <a:solidFill>
              <a:srgbClr val="B455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34456" y="1280160"/>
            <a:ext cx="1600200" cy="411480"/>
          </a:xfrm>
          <a:prstGeom prst="rect">
            <a:avLst/>
          </a:prstGeom>
          <a:solidFill>
            <a:srgbClr val="B4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133502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5896" y="1755648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Beta → Stable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25896" y="2331720"/>
            <a:ext cx="1417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Promozione capability validate dal team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90888" y="2450592"/>
            <a:ext cx="256032" cy="36576"/>
          </a:xfrm>
          <a:prstGeom prst="rect">
            <a:avLst/>
          </a:prstGeom>
          <a:solidFill>
            <a:srgbClr val="E6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0688" y="1280160"/>
            <a:ext cx="1600200" cy="2377440"/>
          </a:xfrm>
          <a:prstGeom prst="rect">
            <a:avLst/>
          </a:prstGeom>
          <a:solidFill>
            <a:srgbClr val="E6E6DC"/>
          </a:solidFill>
          <a:ln w="25400">
            <a:solidFill>
              <a:srgbClr val="BE8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90688" y="1280160"/>
            <a:ext cx="1600200" cy="411480"/>
          </a:xfrm>
          <a:prstGeom prst="rect">
            <a:avLst/>
          </a:prstGeom>
          <a:solidFill>
            <a:srgbClr val="BE8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36408" y="133502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82128" y="1755648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Capability di dominio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2331720"/>
            <a:ext cx="1417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Nuove capability specifiche per il progetto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1280160"/>
            <a:ext cx="1600200" cy="2377440"/>
          </a:xfrm>
          <a:prstGeom prst="rect">
            <a:avLst/>
          </a:prstGeom>
          <a:solidFill>
            <a:srgbClr val="E6E6DC"/>
          </a:solidFill>
          <a:ln w="25400">
            <a:solidFill>
              <a:srgbClr val="969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46920" y="1280160"/>
            <a:ext cx="1600200" cy="411480"/>
          </a:xfrm>
          <a:prstGeom prst="rect">
            <a:avLst/>
          </a:prstGeom>
          <a:solidFill>
            <a:srgbClr val="969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0" y="133502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8360" y="1755648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Telemetria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2331720"/>
            <a:ext cx="1417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968C"/>
                </a:solidFill>
                <a:latin typeface="Arial"/>
              </a:rPr>
              <a:t>Metriche di utilizzo e impatto qualità del team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653796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© 2026 Accenture. All rights reserved.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100FF"/>
                </a:solidFill>
                <a:latin typeface="Arial"/>
              </a:rPr>
              <a:t>Accenture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972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alatino Linotype"/>
              </a:rPr>
              <a:t>La domanda non è
'vale la pena farlo?'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6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0">
                <a:solidFill>
                  <a:srgbClr val="BE82FF"/>
                </a:solidFill>
                <a:latin typeface="Palatino Linotype"/>
              </a:rPr>
              <a:t>il registry è già operativo.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6DC"/>
                </a:solidFill>
                <a:latin typeface="Arial"/>
              </a:rPr>
              <a:t>Ogni giorno senza adozione è un giorno in cui la conoscenza del team rimane
distribuita, non condivisa e non migliorabile.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663440"/>
            <a:ext cx="6583680" cy="73152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6309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Prossimo passo: clona il registry e prova una capability oggi.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309360"/>
            <a:ext cx="11777472" cy="54864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