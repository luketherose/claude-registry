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" y="5943600"/>
            <a:ext cx="12124944" cy="7315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0" y="164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E82FF"/>
                </a:solidFill>
                <a:latin typeface="Arial"/>
              </a:rPr>
              <a:t>[Accenture]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Palatino Linotype"/>
              </a:rPr>
              <a:t>Claude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718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CAFFF"/>
                </a:solidFill>
                <a:latin typeface="Arial"/>
              </a:rPr>
              <a:t>The shared capability infrastructure for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49039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6968C"/>
                </a:solidFill>
                <a:latin typeface="Arial"/>
              </a:rPr>
              <a:t>Engineering Team  •  May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297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E82FF"/>
                </a:solidFill>
                <a:latin typeface="Arial"/>
              </a:rPr>
              <a:t>87 agents  ·  42 skills  ·  1 production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05840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875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98755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Why ad-hoc Claude usage limits the team's potential</a:t>
            </a:r>
          </a:p>
        </p:txBody>
      </p:sp>
      <p:sp>
        <p:nvSpPr>
          <p:cNvPr id="9" name="Oval 8"/>
          <p:cNvSpPr/>
          <p:nvPr/>
        </p:nvSpPr>
        <p:spPr>
          <a:xfrm>
            <a:off x="274320" y="1581912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6362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The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563624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Shared capabilities — a library for Claude's behaviour</a:t>
            </a:r>
          </a:p>
        </p:txBody>
      </p:sp>
      <p:sp>
        <p:nvSpPr>
          <p:cNvPr id="12" name="Oval 11"/>
          <p:cNvSpPr/>
          <p:nvPr/>
        </p:nvSpPr>
        <p:spPr>
          <a:xfrm>
            <a:off x="274320" y="2157984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1396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How It 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139696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Catalog → Marketplace → Install in one command</a:t>
            </a:r>
          </a:p>
        </p:txBody>
      </p:sp>
      <p:sp>
        <p:nvSpPr>
          <p:cNvPr id="15" name="Oval 14"/>
          <p:cNvSpPr/>
          <p:nvPr/>
        </p:nvSpPr>
        <p:spPr>
          <a:xfrm>
            <a:off x="274320" y="2734056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715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BMAD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271576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Quality at scale: progressive disclosure, DAG, evals</a:t>
            </a:r>
          </a:p>
        </p:txBody>
      </p:sp>
      <p:sp>
        <p:nvSpPr>
          <p:cNvPr id="18" name="Oval 17"/>
          <p:cNvSpPr/>
          <p:nvPr/>
        </p:nvSpPr>
        <p:spPr>
          <a:xfrm>
            <a:off x="274320" y="3310128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29184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Application Replatforming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3291840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The first production workflow — end-to-end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" y="3886200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8679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Current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867912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87 agents, 42 skills, governance pipeline</a:t>
            </a:r>
          </a:p>
        </p:txBody>
      </p:sp>
      <p:sp>
        <p:nvSpPr>
          <p:cNvPr id="24" name="Oval 23"/>
          <p:cNvSpPr/>
          <p:nvPr/>
        </p:nvSpPr>
        <p:spPr>
          <a:xfrm>
            <a:off x="274320" y="4462272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439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Business Value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7560" y="4443984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Productivity, quality, governance — concrete numbers</a:t>
            </a:r>
          </a:p>
        </p:txBody>
      </p:sp>
      <p:sp>
        <p:nvSpPr>
          <p:cNvPr id="27" name="Oval 26"/>
          <p:cNvSpPr/>
          <p:nvPr/>
        </p:nvSpPr>
        <p:spPr>
          <a:xfrm>
            <a:off x="274320" y="5038344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02005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Platform Scalability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5020056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New use cases via template scaffold</a:t>
            </a:r>
          </a:p>
        </p:txBody>
      </p:sp>
      <p:sp>
        <p:nvSpPr>
          <p:cNvPr id="30" name="Oval 29"/>
          <p:cNvSpPr/>
          <p:nvPr/>
        </p:nvSpPr>
        <p:spPr>
          <a:xfrm>
            <a:off x="274320" y="5614416"/>
            <a:ext cx="292608" cy="292608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59612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Next 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5596128"/>
            <a:ext cx="8595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Adoption roadmap and immediate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The Problem: Claude Without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161288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149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Every developer writes their own prompts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01498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 shared quality standard; output quality tied to individual seniority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0515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84248"/>
            <a:ext cx="1161288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3911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A senior defines an excellent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203911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Knowledge stays in one person's head — lost on rotation or departure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7568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08376"/>
            <a:ext cx="1161288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632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New team member joins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06324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Starts from scratch; no way to build on the team's accumulated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3099816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32504"/>
            <a:ext cx="1161288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8736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Claude produces unexpected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408736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No traceability: which instruction caused it? No rollback.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123944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056632"/>
            <a:ext cx="1161288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1114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Team updates an approach (e.g. logging)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511149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Every developer updates their own prompt inconsistently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514807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6144768"/>
            <a:ext cx="11612880" cy="43891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190488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The cost is not in the tool — it is in the lack of structure around the tool.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The Solution: A Library for Claude's Behaviour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394960" cy="5120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E82FF"/>
                </a:solidFill>
                <a:latin typeface="Arial"/>
              </a:rPr>
              <a:t>What is a capability?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A capability is a specialisation of Claude for a specific role:
Software Architect, Functional Analyst, Java Developer, Code Reviewer...
Each capability defines exactly:
• How Claude should behave in that role
• The expected output format (ADR, report, code with tests...)
• Team standards (naming, error handling, logging, security)
• When to activate and when NOT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AFFF"/>
                </a:solidFill>
                <a:latin typeface="Arial"/>
              </a:rPr>
              <a:t>87 agents  ·  42 skills
versioned, reviewed, distributed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0058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Two-layer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463040"/>
            <a:ext cx="6035040" cy="1737360"/>
          </a:xfrm>
          <a:prstGeom prst="rect">
            <a:avLst/>
          </a:prstGeom>
          <a:solidFill>
            <a:srgbClr val="F4F0FF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53619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claude-catalog/   (Development)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920240"/>
            <a:ext cx="5669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Authors write capabilities here.
PR review → GitHub Actions validation →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735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100FF"/>
                </a:solidFill>
                <a:latin typeface="Arial"/>
              </a:rPr>
              <a:t>↓  publish 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611880"/>
            <a:ext cx="6035040" cy="1737360"/>
          </a:xfrm>
          <a:prstGeom prst="rect">
            <a:avLst/>
          </a:prstGeom>
          <a:solidFill>
            <a:srgbClr val="F4F0FF"/>
          </a:solidFill>
          <a:ln w="19050">
            <a:solidFill>
              <a:srgbClr val="750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3685032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claude-marketplace/   (Distribution)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069080"/>
            <a:ext cx="5669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Approved capabilities only.
stable/  ·  beta/  ·  skills/
Install with one command: setup-capabilities.sh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How It Works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97280"/>
            <a:ext cx="1874519" cy="29260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E82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Author writes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Create branch, run scaffold script, write system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21408" y="22860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1992" y="1097280"/>
            <a:ext cx="1874519" cy="29260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95144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100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Pull Request on 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13432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Peer review; structured diff like any code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2860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1097280"/>
            <a:ext cx="1874519" cy="29260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88536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E82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GitHub Actions validates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Structure, naming, completeness, body length, description rubric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2860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1097280"/>
            <a:ext cx="1874519" cy="29260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81928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100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0216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Reviewer approves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216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Human sign-off; PR history gives full audit trail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1583" y="22860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02168" y="1097280"/>
            <a:ext cx="1874519" cy="29260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BE82FF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Published to marketplace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stable or beta tier; SemVer tag; catalog.json updated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94976" y="2286000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95560" y="1097280"/>
            <a:ext cx="1874519" cy="29260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68712" y="1170432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100FF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87000" y="1645920"/>
            <a:ext cx="16916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Team installs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2267712"/>
            <a:ext cx="1691639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./setup-capabilities.sh resolves deps — Claude Code picks it up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251960"/>
            <a:ext cx="11612880" cy="1371600"/>
          </a:xfrm>
          <a:prstGeom prst="rect">
            <a:avLst/>
          </a:prstGeom>
          <a:solidFill>
            <a:srgbClr val="F4F0FF"/>
          </a:solidFill>
          <a:ln w="6350">
            <a:solidFill>
              <a:srgbClr val="B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343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For developers using a capability: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0916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Copy the .md file into .claude/agents/ of your project.  Claude Code recognises it automatically — no configuration needed.
Or run ./setup-capabilities.sh /path/to/project  and all capabilities (with their skill dependencies) are installed in one step.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BMAD Architecture: Quality at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9611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6968C"/>
                </a:solidFill>
                <a:latin typeface="Arial"/>
              </a:rPr>
              <a:t>The registry adopts BMAD methodology patterns to guarantee quality as the capability set grows.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834640" cy="47548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5087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Progressive Disclosure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2084831"/>
            <a:ext cx="2615184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176272"/>
            <a:ext cx="261518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Supervisor bodies ≤ 10k chars.
Phase-by-phase reference docs loaded on demand
from claude-catalog/docs/&lt;phase&gt;/.
Model focuses on what matters right now.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1" y="1417320"/>
            <a:ext cx="2834640" cy="47548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79" y="15087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Workflow DAG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79" y="2084831"/>
            <a:ext cx="2615184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176272"/>
            <a:ext cx="261518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catalog.json carries preceded_by / followed_by arrays
for every pipeline agent.
Machine-readable dependency graph.
bmad/workflows.json is the use-case registry.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3" y="1417320"/>
            <a:ext cx="2834640" cy="47548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Document-as-Cache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2084831"/>
            <a:ext cx="2615184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2176272"/>
            <a:ext cx="261518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Each phase writes _meta/pipeline-state.yaml.
Supervisors resume correctly after interruption
or context compression.
No silent re-runs of completed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72016" y="1417320"/>
            <a:ext cx="2834640" cy="47548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15087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Eval Suites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81744" y="2084831"/>
            <a:ext cx="2615184" cy="27432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1744" y="2176272"/>
            <a:ext cx="261518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Every supervisor has triggers.json (activation)
and evals.json (artifact expectations).
Behavioral quality gate beyond body-length ratchet.
Activation rate threshold: ≥0.5 over 3 runs.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Application Replatforming: The First Production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877824"/>
            <a:ext cx="11704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6968C"/>
                </a:solidFill>
                <a:latin typeface="Arial"/>
              </a:rPr>
              <a:t>Entry point: refactoring-supervisor  ·  Status: stable  ·  End-to-end AS-IS → TO-BE migration with continuous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371600"/>
            <a:ext cx="1847088" cy="393192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82FF"/>
                </a:solidFill>
                <a:latin typeface="Arial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Codebase
Indexing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" y="2487168"/>
            <a:ext cx="1700784" cy="1828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indexing-supervisor
8 sub-agents
.indexing-kb/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9424" y="1371600"/>
            <a:ext cx="1847088" cy="393192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22576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60073"/>
                </a:solidFill>
                <a:latin typeface="Arial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2576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Functional
Analysis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22576" y="2487168"/>
            <a:ext cx="1700784" cy="18288"/>
          </a:xfrm>
          <a:prstGeom prst="rect">
            <a:avLst/>
          </a:prstGeom>
          <a:solidFill>
            <a:srgbClr val="B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22576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functional-analysis-supervisor
5 sub-agents
PDF + PPTX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088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2816" y="1371600"/>
            <a:ext cx="1847088" cy="393192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5968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82FF"/>
                </a:solidFill>
                <a:latin typeface="Arial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Technical
Analysis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2487168"/>
            <a:ext cx="1700784" cy="1828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15968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technical-analysis-supervisor
8 sub-agents
Risk register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36208" y="1371600"/>
            <a:ext cx="1847088" cy="393192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60073"/>
                </a:solidFill>
                <a:latin typeface="Arial"/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Baseline
Testing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487168"/>
            <a:ext cx="1700784" cy="18288"/>
          </a:xfrm>
          <a:prstGeom prst="rect">
            <a:avLst/>
          </a:prstGeom>
          <a:solidFill>
            <a:srgbClr val="B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baseline-testing-supervisor
7 sub-agents
AS-IS oracle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19872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1371600"/>
            <a:ext cx="1847088" cy="393192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E82FF"/>
                </a:solidFill>
                <a:latin typeface="Arial"/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TO-BE
Replatforming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02752" y="2487168"/>
            <a:ext cx="1700784" cy="18288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refactoring-tobe-supervisor
9 sub-agents
Spring Boot 3 + Angular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13263" y="3017520"/>
            <a:ext cx="1280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22992" y="1371600"/>
            <a:ext cx="1847088" cy="393192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96144" y="1444752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60073"/>
                </a:solidFill>
                <a:latin typeface="Arial"/>
              </a:rPr>
              <a:t>Step 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96144" y="1792224"/>
            <a:ext cx="17007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Validation
&amp; Go-Live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296144" y="2487168"/>
            <a:ext cx="1700784" cy="18288"/>
          </a:xfrm>
          <a:prstGeom prst="rect">
            <a:avLst/>
          </a:prstGeom>
          <a:solidFill>
            <a:srgbClr val="BE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96144" y="2578608"/>
            <a:ext cx="1700784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tobe-testing-supervisor
8 sub-agents
Equivalence report + PO sign-off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5468112"/>
            <a:ext cx="11631168" cy="1078992"/>
          </a:xfrm>
          <a:prstGeom prst="rect">
            <a:avLst/>
          </a:prstGeom>
          <a:solidFill>
            <a:srgbClr val="F4F0FF"/>
          </a:solidFill>
          <a:ln w="6350">
            <a:solidFill>
              <a:srgbClr val="B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554126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60073"/>
                </a:solidFill>
                <a:latin typeface="Arial"/>
              </a:rPr>
              <a:t>Quality mechanisms across all phases: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" y="5870448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Challenger agent at end of every phase  ·  Human-in-the-loop checkpoints before each phase starts  ·  Pipeline-state.yaml enables safe resume after interruption  ·  Deliberative Decision Engine available for complex architectural choices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Current State: 87 Agents, 42 Skills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231136" cy="1325880"/>
          </a:xfrm>
          <a:prstGeom prst="rect">
            <a:avLst/>
          </a:prstGeom>
          <a:solidFill>
            <a:srgbClr val="460073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Palatino Linotype"/>
              </a:rP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E82FF"/>
                </a:solidFill>
                <a:latin typeface="Arial"/>
              </a:rPr>
              <a:t>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05840"/>
            <a:ext cx="2231136" cy="13258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61488" y="106070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Palatino Linotype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1488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E82FF"/>
                </a:solidFill>
                <a:latin typeface="Arial"/>
              </a:rPr>
              <a:t>Skills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005840"/>
            <a:ext cx="2231136" cy="132588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8" y="106070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Palatino Linotype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E82FF"/>
                </a:solidFill>
                <a:latin typeface="Arial"/>
              </a:rPr>
              <a:t>Production
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005840"/>
            <a:ext cx="2231136" cy="13258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8" y="106070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60073"/>
                </a:solidFill>
                <a:latin typeface="Palatino Linotype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6968C"/>
                </a:solidFill>
                <a:latin typeface="Arial"/>
              </a:rPr>
              <a:t>Stable
Capabilities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005840"/>
            <a:ext cx="2231136" cy="1325880"/>
          </a:xfrm>
          <a:prstGeom prst="rect">
            <a:avLst/>
          </a:prstGeom>
          <a:solidFill>
            <a:srgbClr val="F4F0FF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93808" y="1060704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460073"/>
                </a:solidFill>
                <a:latin typeface="Palatino Linotype"/>
              </a:rPr>
              <a:t>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93808" y="17373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6968C"/>
                </a:solidFill>
                <a:latin typeface="Arial"/>
              </a:rPr>
              <a:t>Beta
Capabilities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74320" y="2542032"/>
          <a:ext cx="1163116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31520"/>
                <a:gridCol w="1371600"/>
                <a:gridCol w="6601968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Agent Group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Count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Tier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Replatforming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Phases 0-4 + Step 6 — end-to-end migration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Developer agents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stable/beta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Java/Spring, Python, Frontend, Go, Rust, Kotlin, C#, Ruby, PHP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Orchestration &amp; meta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orchestrator, refactoring-supervisor, deliberative-decision-engine, registry-auditor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Deliberation personas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proposer, critic, replatforming-specialist, risk-reviewer, ops-reviewer, judge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Role-based (quality)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code-reviewer, test-writer, debugger, api-designer, documentation-writer, wiki-writer</a:t>
                      </a:r>
                    </a:p>
                  </a:txBody>
                  <a:tcPr/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Document creation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presentation-creator, document-creator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Skills (knowledge)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stable/beta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Branding, Java, testing, REST API, frontend frameworks, database, refactoring...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Business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5760720" cy="1627632"/>
          </a:xfrm>
          <a:prstGeom prst="rect">
            <a:avLst/>
          </a:prstGeom>
          <a:solidFill>
            <a:srgbClr val="000000"/>
          </a:solidFill>
          <a:ln w="1016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Seniority becomes 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Senior developer instructions become the standard for everyone.
A junior using developer-java produces code with the same
architectural structure a senior following team guidelines would produce.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715768"/>
            <a:ext cx="5760720" cy="1627632"/>
          </a:xfrm>
          <a:prstGeom prst="rect">
            <a:avLst/>
          </a:prstGeom>
          <a:solidFill>
            <a:srgbClr val="F4F0FF"/>
          </a:solidFill>
          <a:ln w="1016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80720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Quality and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18687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Every capability: PR review + GitHub Actions validation + SemVer.
Full audit trail: who proposed, what changed, when approved.
Protected main branch — no capability change without explicit review.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471416"/>
            <a:ext cx="5760720" cy="1627632"/>
          </a:xfrm>
          <a:prstGeom prst="rect">
            <a:avLst/>
          </a:prstGeom>
          <a:solidFill>
            <a:srgbClr val="000000"/>
          </a:solidFill>
          <a:ln w="1016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62855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Knowledge that is not lost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74336"/>
            <a:ext cx="539496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When an experienced colleague moves on, their best practices
remain in the registry. The knowledge belongs to the organisation,
not to individuals.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9601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Estimated savings per developer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63640" y="1371600"/>
          <a:ext cx="562355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1874519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Saving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Use existing capability vs build from scratch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20-40 min / task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Elimination of rework (low-quality output)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1-2 h / sprint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Onboarding new member on Claude standards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1-2 working days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Identify regression in Claude behaviour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Variable (avoids escalation)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263640" y="3520440"/>
            <a:ext cx="5623560" cy="868680"/>
          </a:xfrm>
          <a:prstGeom prst="rect">
            <a:avLst/>
          </a:prstGeom>
          <a:solidFill>
            <a:srgbClr val="4600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358444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CAFFF"/>
                </a:solidFill>
                <a:latin typeface="Arial"/>
              </a:rPr>
              <a:t>For a team of 5 developers using
2 capabilities/task/day: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005072"/>
            <a:ext cx="5394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2-4 hours saved / week per person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553712"/>
            <a:ext cx="5623560" cy="1444752"/>
          </a:xfrm>
          <a:prstGeom prst="rect">
            <a:avLst/>
          </a:prstGeom>
          <a:solidFill>
            <a:srgbClr val="F4F0FF"/>
          </a:solidFill>
          <a:ln w="6350">
            <a:solidFill>
              <a:srgbClr val="B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62686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Accelerated onboarding — 3 steps: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01091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1. Clone the registry
2. Run setup-capabilities.sh
3. Open Claude Code
All capabilities, standards, and conventions ready immediately.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Platform Scalability: New Use Cases via Template Scaffold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6012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Today: 1 production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539496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Application Replatforming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Arial"/>
              </a:rPr>
              <a:t>47 pipeline agents  ·  5 phases + Step 6
Entry point: refactoring-supervisor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5292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100FF"/>
                </a:solidFill>
                <a:latin typeface="Arial"/>
              </a:rPr>
              <a:t>↓  Adding a new use case takes 8 steps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91840"/>
            <a:ext cx="5394960" cy="2761488"/>
          </a:xfrm>
          <a:prstGeom prst="rect">
            <a:avLst/>
          </a:prstGeom>
          <a:solidFill>
            <a:srgbClr val="F4F0FF"/>
          </a:solidFill>
          <a:ln w="6350">
            <a:solidFill>
              <a:srgbClr val="BE8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3649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1. Define use case ID, name, trigger phrases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9417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2. Copy supervisor-template.md, fill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23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3. Identify shared vs new worker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5254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4. Write new worker agents (skeleton provided)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6817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5. Create docs/&lt;use-case&gt;/ reference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109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6. Add entry to bmad/workflows.json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0096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7. Add catalog.json entries for all agents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66928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8. Publish to marketplace, install, use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960120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Potential future workflows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371600"/>
            <a:ext cx="603504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08192" y="1426464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Code Review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1773936"/>
            <a:ext cx="5687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Automated PR analysis across multiple dimensions with risk scoring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2359152"/>
            <a:ext cx="60350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192" y="2414016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82FF"/>
                </a:solidFill>
                <a:latin typeface="Arial"/>
              </a:rPr>
              <a:t>API Design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08192" y="2761488"/>
            <a:ext cx="5687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OpenAPI first design, contract testing, client generation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346704"/>
            <a:ext cx="603504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08192" y="3401568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Security Audit Workflow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8192" y="3749040"/>
            <a:ext cx="5687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OWASP assessment, CVE scan, remediation roadmap with priority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4334256"/>
            <a:ext cx="6035040" cy="868680"/>
          </a:xfrm>
          <a:prstGeom prst="rect">
            <a:avLst/>
          </a:prstGeom>
          <a:solidFill>
            <a:srgbClr val="000000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08192" y="4389120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E82FF"/>
                </a:solidFill>
                <a:latin typeface="Arial"/>
              </a:rPr>
              <a:t>Domain Capability Packs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736592"/>
            <a:ext cx="5687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rial"/>
              </a:rPr>
              <a:t>developer-payments, analyst-compliance — team-specific specialisations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5321808"/>
            <a:ext cx="6035040" cy="868680"/>
          </a:xfrm>
          <a:prstGeom prst="rect">
            <a:avLst/>
          </a:prstGeom>
          <a:solidFill>
            <a:srgbClr val="F4F0FF"/>
          </a:solidFill>
          <a:ln w="63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08192" y="5376672"/>
            <a:ext cx="568756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60073"/>
                </a:solidFill>
                <a:latin typeface="Arial"/>
              </a:rPr>
              <a:t>Onboarding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5724144"/>
            <a:ext cx="5687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Automated onboarding report: codebase summary, key contacts, first tasks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41280" y="731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100FF"/>
                </a:solidFill>
                <a:latin typeface="Arial"/>
              </a:rPr>
              <a:t>[Accenture]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1170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Arial"/>
              </a:rPr>
              <a:t>Governance &amp; Infrastructure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804671"/>
            <a:ext cx="11704320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987552"/>
            <a:ext cx="1163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CI Validation Pipeline (sequential gates)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44752"/>
            <a:ext cx="5623560" cy="2560320"/>
          </a:xfrm>
          <a:prstGeom prst="rect">
            <a:avLst/>
          </a:prstGeom>
          <a:solidFill>
            <a:srgbClr val="000000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5361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BE82FF"/>
                </a:solidFill>
                <a:latin typeface="Arial"/>
              </a:rPr>
              <a:t>Gate 1
validate-catalog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03120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YAML frontmatter valid
System prompt + ## Role present
Skills: no forbidden tools
CHANGELOG.md [Unreleased] entry
Marketplace sync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6576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E82FF"/>
                </a:solidFill>
                <a:latin typeface="Arial"/>
              </a:rPr>
              <a:t>Fails fast —
blocks Gate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260604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100FF"/>
                </a:solidFill>
                <a:latin typeface="Arial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444752"/>
            <a:ext cx="5623560" cy="2560320"/>
          </a:xfrm>
          <a:prstGeom prst="rect">
            <a:avLst/>
          </a:prstGeom>
          <a:solidFill>
            <a:srgbClr val="F4F0FF"/>
          </a:solidFill>
          <a:ln w="1524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536192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60073"/>
                </a:solidFill>
                <a:latin typeface="Arial"/>
              </a:rPr>
              <a:t>Gate 2
validate-marketplace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2103120"/>
            <a:ext cx="5212080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catalog.json: semver, tier, status
Every referenced file exists on disk
File frontmatter name matches catalog
Path convention enforced
No orphan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36576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100FF"/>
                </a:solidFill>
                <a:latin typeface="Arial"/>
              </a:rPr>
              <a:t>Only runs if
Gate 1 is green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274320" y="4160520"/>
          <a:ext cx="11631168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705088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Rule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Implementation</a:t>
                      </a:r>
                    </a:p>
                  </a:txBody>
                  <a:tcPr>
                    <a:solidFill>
                      <a:srgbClr val="A100FF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Branch 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main is protected; every change via Pull Request with review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Validation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GitHub Actions: gate 1 (catalog) then gate 2 (marketplace) — sequential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Versioning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SemVer: PATCH=fix, MINOR=new behaviour, MAJOR=breaking change</a:t>
                      </a:r>
                    </a:p>
                  </a:txBody>
                  <a:tcPr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Body length ratchet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Agents ≤ 10k chars; ratchet baseline for legacy files; growth = hard error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Beta → stable promotion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2+ projects, 30 days without critical issues</a:t>
                      </a:r>
                    </a:p>
                  </a:txBody>
                  <a:tcPr/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Skill description rubric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000000"/>
                          </a:solidFill>
                          <a:latin typeface="Arial"/>
                        </a:rPr>
                        <a:t>Must include trigger phrases, 'Do not use...' scope, invocation prefix</a:t>
                      </a:r>
                    </a:p>
                  </a:txBody>
                  <a:tcPr>
                    <a:solidFill>
                      <a:srgbClr val="E6E6DC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0" y="1645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BE82FF"/>
                </a:solidFill>
                <a:latin typeface="Arial"/>
              </a:rPr>
              <a:t>[Accenture]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Palatino Linotype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" y="1188720"/>
            <a:ext cx="12124944" cy="36576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Palatino Linotype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Team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55648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6DC"/>
                </a:solidFill>
                <a:latin typeface="Arial"/>
              </a:rPr>
              <a:t>Distribute capabilities to all active projects. Run setup-capabilities.sh per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9424"/>
            <a:ext cx="1143000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322576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Palatino Linotype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Feedback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06624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6DC"/>
                </a:solidFill>
                <a:latin typeface="Arial"/>
              </a:rPr>
              <a:t>Collect developer feedback after 2-4 weeks of use. Identify gaps and quality issues.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00400"/>
            <a:ext cx="1143000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273552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Palatino Linotype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273552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Beta → stable promotion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6DC"/>
                </a:solidFill>
                <a:latin typeface="Arial"/>
              </a:rPr>
              <a:t>Stabilise high-usage beta capabilities based on feedback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51376"/>
            <a:ext cx="1143000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24528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Palatino Linotype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2245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Domain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608576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6DC"/>
                </a:solidFill>
                <a:latin typeface="Arial"/>
              </a:rPr>
              <a:t>Develop domain-specific capabilities for our application areas (e.g. developer-payments, analyst-compliance).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102352"/>
            <a:ext cx="11430000" cy="18288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175504"/>
            <a:ext cx="365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A100FF"/>
                </a:solidFill>
                <a:latin typeface="Palatino Linotype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7550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Second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559552"/>
            <a:ext cx="10881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E6DC"/>
                </a:solidFill>
                <a:latin typeface="Arial"/>
              </a:rPr>
              <a:t>Select and scaffold the next use case using claude-catalog/templates/new-use-case/.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1264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6968C"/>
                </a:solidFill>
                <a:latin typeface="Arial"/>
              </a:rPr>
              <a:t>The same standards we apply to code — applied to the behaviour of the AI that helps produce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" y="6601968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6968C"/>
                </a:solidFill>
                <a:latin typeface="Arial"/>
              </a:rPr>
              <a:t>Copyright © 2026 Accenture.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