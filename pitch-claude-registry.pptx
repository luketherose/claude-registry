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Palatino Linotype"/>
              </a:rPr>
              <a:t>Claude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CAFFF"/>
                </a:solidFill>
                <a:latin typeface="Arial"/>
              </a:rPr>
              <a:t>Capability condivise per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6968C"/>
                </a:solidFill>
                <a:latin typeface="Arial"/>
              </a:rPr>
              <a:t>Aprile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45752" y="6126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A100FF"/>
                </a:solidFill>
                <a:latin typeface="Arial"/>
              </a:rPr>
              <a:t>[Accenture]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Copyright © 2026 Accenture.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Arial"/>
              </a:rPr>
              <a:t>Il Problema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47120" cy="2743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Copyright © 2026 Accenture. All rights reserved.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6968C"/>
                </a:solidFill>
                <a:latin typeface="Arial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3474720" cy="3840480"/>
          </a:xfrm>
          <a:prstGeom prst="rect">
            <a:avLst/>
          </a:prstGeom>
          <a:solidFill>
            <a:srgbClr val="F4F0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097280"/>
            <a:ext cx="32552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60073"/>
                </a:solidFill>
                <a:latin typeface="Arial"/>
              </a:rPr>
              <a:t>Copy-paste di system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481328"/>
            <a:ext cx="325526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Ogni progetto copia e incolla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  manualmente i system prompt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  degli agenti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Modifiche locali non si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  propagano agli altri progetti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Nessuna tracciabilità di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  quale versione è in uso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005840"/>
            <a:ext cx="3474720" cy="3840480"/>
          </a:xfrm>
          <a:prstGeom prst="rect">
            <a:avLst/>
          </a:prstGeom>
          <a:solidFill>
            <a:srgbClr val="F4F0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097280"/>
            <a:ext cx="32552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60073"/>
                </a:solidFill>
                <a:latin typeface="Arial"/>
              </a:rPr>
              <a:t>Nessun versionamento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481328"/>
            <a:ext cx="325526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Impossibile sapere se l'agente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  in un progetto è aggiornato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Nessun changelog: chi ha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  cambiato cosa, e perché?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Rollback impossibile senza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  backup manuali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1005840"/>
            <a:ext cx="3474720" cy="3840480"/>
          </a:xfrm>
          <a:prstGeom prst="rect">
            <a:avLst/>
          </a:prstGeom>
          <a:solidFill>
            <a:srgbClr val="F4F0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7" y="1097280"/>
            <a:ext cx="32552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60073"/>
                </a:solidFill>
                <a:latin typeface="Arial"/>
              </a:rPr>
              <a:t>Nessuna governance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7" y="1481328"/>
            <a:ext cx="325526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Chiunque può modificare un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  prompt senza review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Standard (sicurezza, testing,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  API) ridefiniti da zero in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  ogni progetto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Nessun processo di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  promozione o deprecazione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Arial"/>
              </a:rPr>
              <a:t>La Soluzione: Claude Registry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47120" cy="2743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Copyright © 2026 Accenture. All rights reserved.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6968C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60073"/>
                </a:solidFill>
                <a:latin typeface="Arial"/>
              </a:rPr>
              <a:t>Un registry centralizzato per agenti e skill condivisi — versionati, revisionati, distribuiti.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2651760" cy="3474720"/>
          </a:xfrm>
          <a:prstGeom prst="rect">
            <a:avLst/>
          </a:prstGeom>
          <a:solidFill>
            <a:srgbClr val="F4F0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91640"/>
            <a:ext cx="2432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60073"/>
                </a:solidFill>
                <a:latin typeface="Arial"/>
              </a:rPr>
              <a:t>Centralizzato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75688"/>
            <a:ext cx="243230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Unico source of truth per tutte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  le capability di Claude Code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Catalogo consultabile con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  metadati, versioni, dipendenze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600200"/>
            <a:ext cx="2651760" cy="3474720"/>
          </a:xfrm>
          <a:prstGeom prst="rect">
            <a:avLst/>
          </a:prstGeom>
          <a:solidFill>
            <a:srgbClr val="F4F0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691640"/>
            <a:ext cx="2432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60073"/>
                </a:solidFill>
                <a:latin typeface="Arial"/>
              </a:rPr>
              <a:t>Versionato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2075688"/>
            <a:ext cx="243230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SemVer (PATCH / MINOR / MAJOR)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Git tag per ogni release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Changelog obbligatorio per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  ogni modifica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600200"/>
            <a:ext cx="2651760" cy="3474720"/>
          </a:xfrm>
          <a:prstGeom prst="rect">
            <a:avLst/>
          </a:prstGeom>
          <a:solidFill>
            <a:srgbClr val="F4F0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691640"/>
            <a:ext cx="2432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60073"/>
                </a:solidFill>
                <a:latin typeface="Arial"/>
              </a:rPr>
              <a:t>Revisionato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2075688"/>
            <a:ext cx="243230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PR workflow con checklist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GitHub Actions CI per validazione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Almeno 1 reviewer per merge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1600200"/>
            <a:ext cx="2651760" cy="3474720"/>
          </a:xfrm>
          <a:prstGeom prst="rect">
            <a:avLst/>
          </a:prstGeom>
          <a:solidFill>
            <a:srgbClr val="F4F0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691640"/>
            <a:ext cx="2432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60073"/>
                </a:solidFill>
                <a:latin typeface="Arial"/>
              </a:rPr>
              <a:t>Distribuito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0848" y="2075688"/>
            <a:ext cx="243230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setup-capabilities.sh installa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  tutto in 1 comando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Dipendenze skill risolte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  automaticamente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Arial"/>
              </a:rPr>
              <a:t>Architettura: Due Layer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47120" cy="2743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Copyright © 2026 Accenture. All rights reserved.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6968C"/>
                </a:solidFill>
                <a:latin typeface="Arial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303520" cy="5029200"/>
          </a:xfrm>
          <a:prstGeom prst="rect">
            <a:avLst/>
          </a:prstGeom>
          <a:solidFill>
            <a:srgbClr val="F4F0FF"/>
          </a:solidFill>
          <a:ln w="1905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0972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60073"/>
                </a:solidFill>
                <a:latin typeface="Arial"/>
              </a:rPr>
              <a:t>Layer 1 — Agenti (12)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72768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>Eseguono ruoli specializzati: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>  architect, developer, reviewer…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>Modello: Sonnet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>Tool access: Read, Write, Bash, …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>Delegano alle Skill per recuperare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>standard e convenzioni di dominio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>Installati in: .claude/agents/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0175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A100FF"/>
                </a:solidFill>
                <a:latin typeface="Arial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1005840"/>
            <a:ext cx="4937760" cy="5029200"/>
          </a:xfrm>
          <a:prstGeom prst="rect">
            <a:avLst/>
          </a:prstGeom>
          <a:solidFill>
            <a:srgbClr val="F4F0FF"/>
          </a:solidFill>
          <a:ln w="19050">
            <a:solidFill>
              <a:srgbClr val="460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1097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60073"/>
                </a:solidFill>
                <a:latin typeface="Arial"/>
              </a:rPr>
              <a:t>Layer 2 — Skill (4)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572768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>Knowledge provider atomici: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>  standard, convenzioni, brand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>Modello: Haiku (read-only)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>Tool access: Read only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>Non autonomi: invocati dagli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>agenti tramite il tool Agent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/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>Installati in: .claude/agents/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000000"/>
                </a:solidFill>
                <a:latin typeface="Arial"/>
              </a:rPr>
              <a:t>(come dipendenze automatiche)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6968C"/>
                </a:solidFill>
                <a:latin typeface="Arial"/>
              </a:rPr>
              <a:t>setup-capabilities.sh — risolve le dipendenze skill e installa tutto in un unico comando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Arial"/>
              </a:rPr>
              <a:t>Capability Disponibili — 12 Agenti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47120" cy="2743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Copyright © 2026 Accenture. All rights reserved.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6968C"/>
                </a:solidFill>
                <a:latin typeface="Arial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5669280" cy="402336"/>
          </a:xfrm>
          <a:prstGeom prst="rect">
            <a:avLst/>
          </a:prstGeom>
          <a:solidFill>
            <a:srgbClr val="F9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60120"/>
            <a:ext cx="685800" cy="402336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014984"/>
            <a:ext cx="612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STABLE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100584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Arial"/>
              </a:rPr>
              <a:t>software-architect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1024128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6968C"/>
                </a:solidFill>
                <a:latin typeface="Arial"/>
              </a:rPr>
              <a:t>Architettura, ADR, trade-off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389888"/>
            <a:ext cx="566928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389888"/>
            <a:ext cx="685800" cy="402336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444752"/>
            <a:ext cx="612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152" y="143560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Arial"/>
              </a:rPr>
              <a:t>functional-analyst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1453896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6968C"/>
                </a:solidFill>
                <a:latin typeface="Arial"/>
              </a:rPr>
              <a:t>Requisiti, use case, processi di business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819656"/>
            <a:ext cx="5669280" cy="402336"/>
          </a:xfrm>
          <a:prstGeom prst="rect">
            <a:avLst/>
          </a:prstGeom>
          <a:solidFill>
            <a:srgbClr val="F9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1819656"/>
            <a:ext cx="685800" cy="402336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" y="1874520"/>
            <a:ext cx="612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STABLE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6152" y="18653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Arial"/>
              </a:rPr>
              <a:t>developer-java-spring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188366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6968C"/>
                </a:solidFill>
                <a:latin typeface="Arial"/>
              </a:rPr>
              <a:t>Sviluppo Java/Spring Boot enterprise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249424"/>
            <a:ext cx="566928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249424"/>
            <a:ext cx="685800" cy="402336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2304288"/>
            <a:ext cx="612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BETA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2295144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Arial"/>
              </a:rPr>
              <a:t>technical-analyst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2313432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6968C"/>
                </a:solidFill>
                <a:latin typeface="Arial"/>
              </a:rPr>
              <a:t>Debito tecnico, sicurezza, dipendenze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679192"/>
            <a:ext cx="5669280" cy="402336"/>
          </a:xfrm>
          <a:prstGeom prst="rect">
            <a:avLst/>
          </a:prstGeom>
          <a:solidFill>
            <a:srgbClr val="F9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2679192"/>
            <a:ext cx="685800" cy="402336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" y="2734056"/>
            <a:ext cx="612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BETA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2724912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Arial"/>
              </a:rPr>
              <a:t>developer-python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54680" y="2743200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6968C"/>
                </a:solidFill>
                <a:latin typeface="Arial"/>
              </a:rPr>
              <a:t>Sviluppo Python / FastAPI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108960"/>
            <a:ext cx="566928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3108960"/>
            <a:ext cx="685800" cy="402336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3776" y="3163824"/>
            <a:ext cx="612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BETA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6152" y="315468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Arial"/>
              </a:rPr>
              <a:t>code-reviewer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4680" y="3172968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6968C"/>
                </a:solidFill>
                <a:latin typeface="Arial"/>
              </a:rPr>
              <a:t>Code review strutturata su PR e file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960120"/>
            <a:ext cx="5669280" cy="402336"/>
          </a:xfrm>
          <a:prstGeom prst="rect">
            <a:avLst/>
          </a:prstGeom>
          <a:solidFill>
            <a:srgbClr val="F9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92240" y="960120"/>
            <a:ext cx="685800" cy="402336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28816" y="1014984"/>
            <a:ext cx="612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BETA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1192" y="100584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Arial"/>
              </a:rPr>
              <a:t>test-writer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1024128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6968C"/>
                </a:solidFill>
                <a:latin typeface="Arial"/>
              </a:rPr>
              <a:t>Test JUnit 5, Mockito, pytest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1389888"/>
            <a:ext cx="566928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92240" y="1389888"/>
            <a:ext cx="685800" cy="402336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28816" y="1444752"/>
            <a:ext cx="612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BETA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51192" y="143560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Arial"/>
              </a:rPr>
              <a:t>debugger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9720" y="1453896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6968C"/>
                </a:solidFill>
                <a:latin typeface="Arial"/>
              </a:rPr>
              <a:t>Diagnosi bug da stack trace e log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92240" y="1819656"/>
            <a:ext cx="5669280" cy="402336"/>
          </a:xfrm>
          <a:prstGeom prst="rect">
            <a:avLst/>
          </a:prstGeom>
          <a:solidFill>
            <a:srgbClr val="F9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92240" y="1819656"/>
            <a:ext cx="685800" cy="402336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28816" y="1874520"/>
            <a:ext cx="612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BETA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51192" y="18653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Arial"/>
              </a:rPr>
              <a:t>api-designer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89720" y="1883664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6968C"/>
                </a:solidFill>
                <a:latin typeface="Arial"/>
              </a:rPr>
              <a:t>Design e review REST API, OpenAPI 3.1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92240" y="2249424"/>
            <a:ext cx="566928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492240" y="2249424"/>
            <a:ext cx="685800" cy="402336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28816" y="2304288"/>
            <a:ext cx="612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BETA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51192" y="2295144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Arial"/>
              </a:rPr>
              <a:t>documentation-writer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89720" y="2313432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6968C"/>
                </a:solidFill>
                <a:latin typeface="Arial"/>
              </a:rPr>
              <a:t>README, runbook, guide architetturali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92240" y="2679192"/>
            <a:ext cx="5669280" cy="402336"/>
          </a:xfrm>
          <a:prstGeom prst="rect">
            <a:avLst/>
          </a:prstGeom>
          <a:solidFill>
            <a:srgbClr val="F9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92240" y="2679192"/>
            <a:ext cx="685800" cy="402336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28816" y="2734056"/>
            <a:ext cx="612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BETA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51192" y="2724912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Arial"/>
              </a:rPr>
              <a:t>presentation-creator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89720" y="2743200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6968C"/>
                </a:solidFill>
                <a:latin typeface="Arial"/>
              </a:rPr>
              <a:t>Slide Accenture-branded (.pptx)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92240" y="3108960"/>
            <a:ext cx="566928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492240" y="3108960"/>
            <a:ext cx="685800" cy="402336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28816" y="3163824"/>
            <a:ext cx="612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BETA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51192" y="315468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Arial"/>
              </a:rPr>
              <a:t>document-creator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89720" y="3172968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6968C"/>
                </a:solidFill>
                <a:latin typeface="Arial"/>
              </a:rPr>
              <a:t>Documenti Accenture-branded (PDF/DOCX)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Arial"/>
              </a:rPr>
              <a:t>Skill Condivise — Knowledge Providers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47120" cy="2743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Copyright © 2026 Accenture. All rights reserved.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6968C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144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60073"/>
                </a:solidFill>
                <a:latin typeface="Arial"/>
              </a:rPr>
              <a:t>Principio: "Scrivi una volta, usa in tutti gli agenti" — una skill aggiornata migliora tutti i dipendenti.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2743200" cy="3749039"/>
          </a:xfrm>
          <a:prstGeom prst="rect">
            <a:avLst/>
          </a:prstGeom>
          <a:solidFill>
            <a:srgbClr val="F4F0FF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60073"/>
                </a:solidFill>
                <a:latin typeface="Arial"/>
              </a:rPr>
              <a:t>java-spring-standards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92808"/>
            <a:ext cx="2560320" cy="2286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9476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6968C"/>
                </a:solidFill>
                <a:latin typeface="Arial"/>
              </a:rPr>
              <a:t>Usata da: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22199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00C0"/>
                </a:solidFill>
                <a:latin typeface="Arial"/>
              </a:rPr>
              <a:t>developer-java-spring · code-reviewer · test-writer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788920"/>
            <a:ext cx="2560320" cy="228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50">
                <a:solidFill>
                  <a:srgbClr val="000000"/>
                </a:solidFill>
                <a:latin typeface="Arial"/>
              </a:rPr>
              <a:t>• Struttura pacchetti, layering, dependency injection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000000"/>
                </a:solidFill>
                <a:latin typeface="Arial"/>
              </a:rPr>
              <a:t>• Testing JUnit 5 + Testcontainers, error handling RFC 7807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000000"/>
                </a:solidFill>
                <a:latin typeface="Arial"/>
              </a:rPr>
              <a:t>• Logging strutturato, security, Micrometer, Maven conventions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1417320"/>
            <a:ext cx="2743200" cy="3749039"/>
          </a:xfrm>
          <a:prstGeom prst="rect">
            <a:avLst/>
          </a:prstGeom>
          <a:solidFill>
            <a:srgbClr val="F4F0FF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15087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60073"/>
                </a:solidFill>
                <a:latin typeface="Arial"/>
              </a:rPr>
              <a:t>testing-standards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37560" y="1892808"/>
            <a:ext cx="2560320" cy="2286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7560" y="19476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6968C"/>
                </a:solidFill>
                <a:latin typeface="Arial"/>
              </a:rPr>
              <a:t>Usata da: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22199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00C0"/>
                </a:solidFill>
                <a:latin typeface="Arial"/>
              </a:rPr>
              <a:t>developer-java-spring · test-writer · code-reviewer · developer-python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2788920"/>
            <a:ext cx="2560320" cy="228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50">
                <a:solidFill>
                  <a:srgbClr val="000000"/>
                </a:solidFill>
                <a:latin typeface="Arial"/>
              </a:rPr>
              <a:t>• Principi di testing, tassonomia scenari, naming convention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000000"/>
                </a:solidFill>
                <a:latin typeface="Arial"/>
              </a:rPr>
              <a:t>• Struttura Arrange-Act-Assert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000000"/>
                </a:solidFill>
                <a:latin typeface="Arial"/>
              </a:rPr>
              <a:t>• Template JUnit 5, pytest, Jest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1417320"/>
            <a:ext cx="2743200" cy="3749039"/>
          </a:xfrm>
          <a:prstGeom prst="rect">
            <a:avLst/>
          </a:prstGeom>
          <a:solidFill>
            <a:srgbClr val="F4F0FF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15087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60073"/>
                </a:solidFill>
                <a:latin typeface="Arial"/>
              </a:rPr>
              <a:t>rest-api-standards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892808"/>
            <a:ext cx="2560320" cy="2286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19476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6968C"/>
                </a:solidFill>
                <a:latin typeface="Arial"/>
              </a:rPr>
              <a:t>Usata da: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22199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00C0"/>
                </a:solidFill>
                <a:latin typeface="Arial"/>
              </a:rPr>
              <a:t>developer-java-spring · api-designer · code-reviewer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2788920"/>
            <a:ext cx="2560320" cy="228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50">
                <a:solidFill>
                  <a:srgbClr val="000000"/>
                </a:solidFill>
                <a:latin typeface="Arial"/>
              </a:rPr>
              <a:t>• Modellazione risorse, HTTP methods e status code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000000"/>
                </a:solidFill>
                <a:latin typeface="Arial"/>
              </a:rPr>
              <a:t>• Versioning, paginazione, formato errori RFC 7807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000000"/>
                </a:solidFill>
                <a:latin typeface="Arial"/>
              </a:rPr>
              <a:t>• Regole OpenAPI 3.1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417320"/>
            <a:ext cx="2743200" cy="3749039"/>
          </a:xfrm>
          <a:prstGeom prst="rect">
            <a:avLst/>
          </a:prstGeom>
          <a:solidFill>
            <a:srgbClr val="F4F0FF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98280" y="15087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60073"/>
                </a:solidFill>
                <a:latin typeface="Arial"/>
              </a:rPr>
              <a:t>accenture-branding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1892808"/>
            <a:ext cx="2560320" cy="2286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98280" y="19476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6968C"/>
                </a:solidFill>
                <a:latin typeface="Arial"/>
              </a:rPr>
              <a:t>Usata da: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222199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00C0"/>
                </a:solidFill>
                <a:latin typeface="Arial"/>
              </a:rPr>
              <a:t>presentation-creator · document-creator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2788920"/>
            <a:ext cx="2560320" cy="228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50">
                <a:solidFill>
                  <a:srgbClr val="000000"/>
                </a:solidFill>
                <a:latin typeface="Arial"/>
              </a:rPr>
              <a:t>• Palette colori, costanti python-pptx, template CSS per PDF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000000"/>
                </a:solidFill>
                <a:latin typeface="Arial"/>
              </a:rPr>
              <a:t>• Tipografia (Arial / Palatino Linotype), layout slide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000000"/>
                </a:solidFill>
                <a:latin typeface="Arial"/>
              </a:rPr>
              <a:t>• Footer legale e linee guida logo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Arial"/>
              </a:rPr>
              <a:t>Come Funziona: Consumer (Team di Progetto)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47120" cy="2743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Copyright © 2026 Accenture. All rights reserved.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6968C"/>
                </a:solidFill>
                <a:latin typeface="Arial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2651760" cy="4114800"/>
          </a:xfrm>
          <a:prstGeom prst="rect">
            <a:avLst/>
          </a:prstGeom>
          <a:solidFill>
            <a:srgbClr val="F9F4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43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100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18488"/>
            <a:ext cx="2432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Arial"/>
              </a:rPr>
              <a:t>Esegui lo script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57400"/>
            <a:ext cx="2432304" cy="502920"/>
          </a:xfrm>
          <a:prstGeom prst="rect">
            <a:avLst/>
          </a:prstGeom>
          <a:solidFill>
            <a:srgbClr val="E8E0FF"/>
          </a:solidFill>
          <a:ln w="10160">
            <a:solidFill>
              <a:srgbClr val="460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60073"/>
                </a:solidFill>
                <a:latin typeface="Arial"/>
              </a:rPr>
              <a:t>setup-capabilities.sh /path/to/mio-progetto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679192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Un solo comando. Compatibile con qualsiasi progetto Claude Code.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1051560"/>
            <a:ext cx="2651760" cy="4114800"/>
          </a:xfrm>
          <a:prstGeom prst="rect">
            <a:avLst/>
          </a:prstGeom>
          <a:solidFill>
            <a:srgbClr val="F9F4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568" y="1143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100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1618488"/>
            <a:ext cx="2432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Arial"/>
              </a:rPr>
              <a:t>Lo script risolve le dipendenze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2057400"/>
            <a:ext cx="2432304" cy="502920"/>
          </a:xfrm>
          <a:prstGeom prst="rect">
            <a:avLst/>
          </a:prstGeom>
          <a:solidFill>
            <a:srgbClr val="E8E0FF"/>
          </a:solidFill>
          <a:ln w="10160">
            <a:solidFill>
              <a:srgbClr val="460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2103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60073"/>
                </a:solidFill>
                <a:latin typeface="Arial"/>
              </a:rPr>
              <a:t>Dependency resolution automatica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1568" y="2679192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Le skill richieste da ogni agente vengono installate automaticamente in .claude/agents/.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051560"/>
            <a:ext cx="2651760" cy="4114800"/>
          </a:xfrm>
          <a:prstGeom prst="rect">
            <a:avLst/>
          </a:prstGeom>
          <a:solidFill>
            <a:srgbClr val="F9F4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6208" y="1143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100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8" y="1618488"/>
            <a:ext cx="2432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Arial"/>
              </a:rPr>
              <a:t>Claude Code rileva le capability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6208" y="2057400"/>
            <a:ext cx="2432304" cy="502920"/>
          </a:xfrm>
          <a:prstGeom prst="rect">
            <a:avLst/>
          </a:prstGeom>
          <a:solidFill>
            <a:srgbClr val="E8E0FF"/>
          </a:solidFill>
          <a:ln w="10160">
            <a:solidFill>
              <a:srgbClr val="460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103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60073"/>
                </a:solidFill>
                <a:latin typeface="Arial"/>
              </a:rPr>
              <a:t>Pronto in meno di 2 minuti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2679192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Gli agenti appaiono nella lista /agents. Claude li delega automaticamente quando pertinenti.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0" y="1051560"/>
            <a:ext cx="2651760" cy="4114800"/>
          </a:xfrm>
          <a:prstGeom prst="rect">
            <a:avLst/>
          </a:prstGeom>
          <a:solidFill>
            <a:srgbClr val="F9F4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0848" y="1143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100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1618488"/>
            <a:ext cx="2432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Arial"/>
              </a:rPr>
              <a:t>Aggiorni quando vuoi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70848" y="2057400"/>
            <a:ext cx="2432304" cy="502920"/>
          </a:xfrm>
          <a:prstGeom prst="rect">
            <a:avLst/>
          </a:prstGeom>
          <a:solidFill>
            <a:srgbClr val="E8E0FF"/>
          </a:solidFill>
          <a:ln w="10160">
            <a:solidFill>
              <a:srgbClr val="460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0" y="2103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60073"/>
                </a:solidFill>
                <a:latin typeface="Arial"/>
              </a:rPr>
              <a:t>Re-esegui lo script per aggiornare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0848" y="2679192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Lo script sovrascrive con l'ultima versione stable/beta del marketplace.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Arial"/>
              </a:rPr>
              <a:t>Come Funziona: Contributor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47120" cy="2743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Copyright © 2026 Accenture. All rights reserved.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6968C"/>
                </a:solidFill>
                <a:latin typeface="Arial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2560320" cy="3840480"/>
          </a:xfrm>
          <a:prstGeom prst="rect">
            <a:avLst/>
          </a:prstGeom>
          <a:solidFill>
            <a:srgbClr val="F4F0FF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2560320" cy="45720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6128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Branch &amp; Scaffold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64208"/>
            <a:ext cx="228600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git checkout -b feat/nome-capability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new-capability.sh nome tipo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Scaffolda file .md con YAML frontmatter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7432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097280"/>
            <a:ext cx="2560320" cy="3840480"/>
          </a:xfrm>
          <a:prstGeom prst="rect">
            <a:avLst/>
          </a:prstGeom>
          <a:solidFill>
            <a:srgbClr val="F4F0FF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097280"/>
            <a:ext cx="2560320" cy="45720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116128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Scrivi il System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664208"/>
            <a:ext cx="228600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name, description, tools, model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Sezione Skills (per agenti con dipendenze)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Almeno 1 esempio e 1 eval scenario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7432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1097280"/>
            <a:ext cx="2560320" cy="3840480"/>
          </a:xfrm>
          <a:prstGeom prst="rect">
            <a:avLst/>
          </a:prstGeom>
          <a:solidFill>
            <a:srgbClr val="F4F0FF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1097280"/>
            <a:ext cx="2560320" cy="45720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116128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Pull Request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664208"/>
            <a:ext cx="228600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PR su main con description e changelog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GitHub Actions valida struttura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Almeno 1 reviewer approva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7432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69680" y="1097280"/>
            <a:ext cx="2560320" cy="3840480"/>
          </a:xfrm>
          <a:prstGeom prst="rect">
            <a:avLst/>
          </a:prstGeom>
          <a:solidFill>
            <a:srgbClr val="F4F0FF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69680" y="1097280"/>
            <a:ext cx="2560320" cy="45720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116128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Arial"/>
              </a:rPr>
              <a:t>Release &amp; Publish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1664208"/>
            <a:ext cx="228600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Catalog Maintainer applica git tag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name@MAJOR.MINOR.PATCH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File copiato in claude-marketplace/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stable o beta in base al tier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50749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6968C"/>
                </a:solidFill>
                <a:latin typeface="Arial"/>
              </a:rPr>
              <a:t>SemVer: PATCH = fix · MINOR = nuovi comportamenti · MAJOR = breaking change (name/description)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Arial"/>
              </a:rPr>
              <a:t>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47120" cy="2743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Copyright © 2026 Accenture. All rights reserved.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6968C"/>
                </a:solidFill>
                <a:latin typeface="Arial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60073"/>
                </a:solidFill>
                <a:latin typeface="Arial"/>
              </a:rPr>
              <a:t>Lifecycle delle Capability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280160" cy="502920"/>
          </a:xfrm>
          <a:prstGeom prst="rect">
            <a:avLst/>
          </a:prstGeom>
          <a:solidFill>
            <a:srgbClr val="969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087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draft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29384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100FF"/>
                </a:solidFill>
                <a:latin typeface="Arial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50876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Feature branch — WIP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03120"/>
            <a:ext cx="1280160" cy="502920"/>
          </a:xfrm>
          <a:prstGeom prst="rect">
            <a:avLst/>
          </a:prstGeom>
          <a:solidFill>
            <a:srgbClr val="BE8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1945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615184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100FF"/>
                </a:solidFill>
                <a:latin typeface="Arial"/>
              </a:rPr>
              <a:t>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219456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PR aperta, review in corso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88920"/>
            <a:ext cx="1280160" cy="50292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8803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approved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300984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100FF"/>
                </a:solidFill>
                <a:latin typeface="Arial"/>
              </a:rPr>
              <a:t>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88036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PR mergiata su main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74720"/>
            <a:ext cx="1280160" cy="502920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released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986784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100FF"/>
                </a:solidFill>
                <a:latin typeface="Arial"/>
              </a:rPr>
              <a:t>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356616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Git tag applicato (name@x.y.z)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160520"/>
            <a:ext cx="1280160" cy="502920"/>
          </a:xfrm>
          <a:prstGeom prst="rect">
            <a:avLst/>
          </a:prstGeom>
          <a:solidFill>
            <a:srgbClr val="460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2519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published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672584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100FF"/>
                </a:solidFill>
                <a:latin typeface="Arial"/>
              </a:rPr>
              <a:t>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425196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Copiato in claude-marketplace/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846320"/>
            <a:ext cx="1280160" cy="502920"/>
          </a:xfrm>
          <a:prstGeom prst="rect">
            <a:avLst/>
          </a:prstGeom>
          <a:solidFill>
            <a:srgbClr val="969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9377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deprecated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493776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rial"/>
              </a:rPr>
              <a:t>Non raccomandato; rimosso dopo 90 gg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96012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60073"/>
                </a:solidFill>
                <a:latin typeface="Arial"/>
              </a:rPr>
              <a:t>Regole di Governance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1417320"/>
            <a:ext cx="5394960" cy="1097280"/>
          </a:xfrm>
          <a:prstGeom prst="rect">
            <a:avLst/>
          </a:prstGeom>
          <a:solidFill>
            <a:srgbClr val="F4F0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149047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60073"/>
                </a:solidFill>
                <a:latin typeface="Arial"/>
              </a:rPr>
              <a:t>Branch Protection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182880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main protetto — ogni modifica via PR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Nessun push diretto, nessun --no-verify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2651760"/>
            <a:ext cx="5394960" cy="1097280"/>
          </a:xfrm>
          <a:prstGeom prst="rect">
            <a:avLst/>
          </a:prstGeom>
          <a:solidFill>
            <a:srgbClr val="F4F0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272491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60073"/>
                </a:solidFill>
                <a:latin typeface="Arial"/>
              </a:rPr>
              <a:t>CI Validation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306324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GitHub Actions valida struttura YAML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frontmatter obbligatori: name, description, tools, model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3886200"/>
            <a:ext cx="5394960" cy="1097280"/>
          </a:xfrm>
          <a:prstGeom prst="rect">
            <a:avLst/>
          </a:prstGeom>
          <a:solidFill>
            <a:srgbClr val="F4F0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7960" y="395935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60073"/>
                </a:solidFill>
                <a:latin typeface="Arial"/>
              </a:rPr>
              <a:t>Review SLA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429768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PR review: entro 2 giorni lavorativi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Bug report: triage entro 5 giorni lavorativi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5120640"/>
            <a:ext cx="5394960" cy="1097280"/>
          </a:xfrm>
          <a:prstGeom prst="rect">
            <a:avLst/>
          </a:prstGeom>
          <a:solidFill>
            <a:srgbClr val="F4F0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519379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60073"/>
                </a:solidFill>
                <a:latin typeface="Arial"/>
              </a:rPr>
              <a:t>Promozione beta → stable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55321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Utilizzo in almeno 2 progetti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30 giorni senza issue critiche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Arial"/>
              </a:rPr>
              <a:t>Prossimi Passi e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47120" cy="27432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Copyright © 2026 Accenture. All rights reserved.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6968C"/>
                </a:solidFill>
                <a:latin typeface="Arial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60073"/>
                </a:solidFill>
                <a:latin typeface="Arial"/>
              </a:rPr>
              <a:t>Il registry cresce con il team: ogni nuova skill o agente migliora l'intero ecosistema.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3566160" cy="4206240"/>
          </a:xfrm>
          <a:prstGeom prst="rect">
            <a:avLst/>
          </a:prstGeom>
          <a:solidFill>
            <a:srgbClr val="F4F0FF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3566160" cy="45720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Subito — Consolidamento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29968"/>
            <a:ext cx="32918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Portare tutti gli agenti beta a stable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Aumentare coverage di esempi ed eval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Documentare pattern di specializzazione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  per progetto (override locali)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Aggiungere hook di pre-commit per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  validazione locale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463040"/>
            <a:ext cx="3566160" cy="4206240"/>
          </a:xfrm>
          <a:prstGeom prst="rect">
            <a:avLst/>
          </a:prstGeom>
          <a:solidFill>
            <a:srgbClr val="F4F0FF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463040"/>
            <a:ext cx="3566160" cy="45720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52704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A breve — Nuove Skill di Dominio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029968"/>
            <a:ext cx="32918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data-engineering-standards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cloud-architecture-standards (AWS/Azure)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frontend-standards (Angular/React)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security-baseline (OWASP, secrets mgmt)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Skill tradotte in skill i documenti di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  governance esistenti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1463040"/>
            <a:ext cx="3566160" cy="4206240"/>
          </a:xfrm>
          <a:prstGeom prst="rect">
            <a:avLst/>
          </a:prstGeom>
          <a:solidFill>
            <a:srgbClr val="F4F0FF"/>
          </a:solidFill>
          <a:ln w="1524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463040"/>
            <a:ext cx="3566160" cy="45720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52704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Medio termine — Espansione Agenti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2029968"/>
            <a:ext cx="32918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data-engineer (Spark, dbt, Airflow)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cloud-architect (IaC, CDK, Terraform)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security-reviewer (SAST, OWASP)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Processo di contribuzione aperto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  al team allargato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000000"/>
                </a:solidFill>
                <a:latin typeface="Arial"/>
              </a:rPr>
              <a:t>• Dashboard metriche di utilizzo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A100FF"/>
                </a:solidFill>
                <a:latin typeface="Arial"/>
              </a:rPr>
              <a:t>Contribuisci: apri una PR su claude-registry — ogni nuova skill o agente è benvenuto.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Palatino Linotype"/>
              </a:rPr>
              <a:t>Claude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DCAFFF"/>
                </a:solidFill>
                <a:latin typeface="Arial"/>
              </a:rPr>
              <a:t>Capability condivise, governance chiara, qualità coerente.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6968C"/>
                </a:solidFill>
                <a:latin typeface="Arial"/>
              </a:rPr>
              <a:t>~/dev/claude-registry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45752" y="6126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A100FF"/>
                </a:solidFill>
                <a:latin typeface="Arial"/>
              </a:rPr>
              <a:t>[Accenture]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6968C"/>
                </a:solidFill>
                <a:latin typeface="Arial"/>
              </a:rPr>
              <a:t>Copyright © 2026 Accenture. All rights reserved.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