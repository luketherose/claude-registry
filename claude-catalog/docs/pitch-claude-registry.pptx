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</a:rPr>
              <a:t>CLAUDE CODE  · 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Claude 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BB3CC"/>
                </a:solidFill>
              </a:rPr>
              <a:t>Capability condivise per il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B3CC"/>
                </a:solidFill>
              </a:rPr>
              <a:t>Come trasformare l'uso individuale di Claude Code
in un asset condiviso dell'organizzazione.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Aprile 2026  ·  Team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</a:rPr>
              <a:t>In tre punti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737360"/>
            <a:ext cx="4480560" cy="1188720"/>
          </a:xfrm>
          <a:prstGeom prst="rect">
            <a:avLst/>
          </a:prstGeom>
          <a:solidFill>
            <a:srgbClr val="0F0A1E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18288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855F7"/>
                </a:solidFill>
              </a:rPr>
              <a:t>Produttività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19456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3CC"/>
                </a:solidFill>
              </a:rPr>
              <a:t>Capability già pronte, non costruirle da zero ogni volta.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3108960"/>
            <a:ext cx="4480560" cy="1188720"/>
          </a:xfrm>
          <a:prstGeom prst="rect">
            <a:avLst/>
          </a:prstGeom>
          <a:solidFill>
            <a:srgbClr val="0F0A1E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32004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855F7"/>
                </a:solidFill>
              </a:rPr>
              <a:t>Qualità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56616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3CC"/>
                </a:solidFill>
              </a:rPr>
              <a:t>Ogni capability passa da PR review prima di essere usata.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4480560"/>
            <a:ext cx="4480560" cy="1188720"/>
          </a:xfrm>
          <a:prstGeom prst="rect">
            <a:avLst/>
          </a:prstGeom>
          <a:solidFill>
            <a:srgbClr val="0F0A1E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4572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855F7"/>
                </a:solidFill>
              </a:rPr>
              <a:t>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93776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3CC"/>
                </a:solidFill>
              </a:rPr>
              <a:t>Le best practice restano nell'org, non nelle persone.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Il Problema Attuale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B3CC"/>
                </a:solidFill>
              </a:rPr>
              <a:t>Senza struttura condivisa, ogni sviluppatore parte da zero — ogni volta.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03520" cy="36576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1463040"/>
            <a:ext cx="5852160" cy="36576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5087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CONSEGUENZA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303520" cy="658368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828800"/>
            <a:ext cx="5852160" cy="658368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Ogni developer scrive il suo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92024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A5A5"/>
                </a:solidFill>
              </a:rPr>
              <a:t>Output diversi, nessuno standard condiviso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87168"/>
            <a:ext cx="5303520" cy="658368"/>
          </a:xfrm>
          <a:prstGeom prst="rect">
            <a:avLst/>
          </a:prstGeom>
          <a:solidFill>
            <a:srgbClr val="0F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0" y="2487168"/>
            <a:ext cx="5852160" cy="658368"/>
          </a:xfrm>
          <a:prstGeom prst="rect">
            <a:avLst/>
          </a:prstGeom>
          <a:solidFill>
            <a:srgbClr val="0F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57860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Un senior crea un ottimo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578608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A5A5"/>
                </a:solidFill>
              </a:rPr>
              <a:t>Rimane nel suo file — non si diffonde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45536"/>
            <a:ext cx="5303520" cy="658368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3145536"/>
            <a:ext cx="5852160" cy="658368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3697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Nuovo collega inizia ad usare Claude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236976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A5A5"/>
                </a:solidFill>
              </a:rPr>
              <a:t>Ricomincia da zero, senza capitalizzare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03904"/>
            <a:ext cx="5303520" cy="658368"/>
          </a:xfrm>
          <a:prstGeom prst="rect">
            <a:avLst/>
          </a:prstGeom>
          <a:solidFill>
            <a:srgbClr val="0F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0" y="3803904"/>
            <a:ext cx="5852160" cy="658368"/>
          </a:xfrm>
          <a:prstGeom prst="rect">
            <a:avLst/>
          </a:prstGeom>
          <a:solidFill>
            <a:srgbClr val="0F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89534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Claude produce output inatteso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895344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A5A5"/>
                </a:solidFill>
              </a:rPr>
              <a:t>Nessuna tracciabilità su quale istruzione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62272"/>
            <a:ext cx="5303520" cy="658368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4462272"/>
            <a:ext cx="5852160" cy="658368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55371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Il team cambia standard (es. logging)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55371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A5A5"/>
                </a:solidFill>
              </a:rPr>
              <a:t>Aggiornamenti inconsistenti tra sviluppatori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55F7"/>
                </a:solidFill>
              </a:rPr>
              <a:t>Il costo non è nel tool — è nella mancanza di struttura intorno al tool.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La Soluzione: Capability Condivise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B3CC"/>
                </a:solidFill>
              </a:rPr>
              <a:t>Una capability è una specializzazione di Claude per un ruolo specifico: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1188720"/>
          </a:xfrm>
          <a:prstGeom prst="rect">
            <a:avLst/>
          </a:prstGeom>
          <a:solidFill>
            <a:srgbClr val="1E1633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A855F7"/>
                </a:solidFill>
              </a:rPr>
              <a:t>Software Architect  ·  Functional Analyst  ·  Developer Java/Spring  ·  Code Reviewer  ·  Test Writer  ·  Debugger  ·  API Designer  ·  Documentation Writer  ·  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2651760" cy="2560320"/>
          </a:xfrm>
          <a:prstGeom prst="rect">
            <a:avLst/>
          </a:prstGeom>
          <a:solidFill>
            <a:srgbClr val="1E1633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55F7"/>
                </a:solidFill>
              </a:rPr>
              <a:t>Comportamento
definito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5760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3CC"/>
                </a:solidFill>
              </a:rPr>
              <a:t>Specifica esattamente come Claude deve operare in quel ruolo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834640"/>
            <a:ext cx="2651760" cy="2560320"/>
          </a:xfrm>
          <a:prstGeom prst="rect">
            <a:avLst/>
          </a:prstGeom>
          <a:solidFill>
            <a:srgbClr val="1E1633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9260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55F7"/>
                </a:solidFill>
              </a:rPr>
              <a:t>Output
strutturato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65760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3CC"/>
                </a:solidFill>
              </a:rPr>
              <a:t>Formato predefinito: ADR, report, codice con test, spec OpenAPI...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834640"/>
            <a:ext cx="2651760" cy="2560320"/>
          </a:xfrm>
          <a:prstGeom prst="rect">
            <a:avLst/>
          </a:prstGeom>
          <a:solidFill>
            <a:srgbClr val="1E1633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9260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55F7"/>
                </a:solidFill>
              </a:rPr>
              <a:t>Standard
del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65760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3CC"/>
                </a:solidFill>
              </a:rPr>
              <a:t>Naming, error handling, logging, sicurezza — tutto incorporato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2834640"/>
            <a:ext cx="2651760" cy="2560320"/>
          </a:xfrm>
          <a:prstGeom prst="rect">
            <a:avLst/>
          </a:prstGeom>
          <a:solidFill>
            <a:srgbClr val="1E1633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29260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55F7"/>
                </a:solidFill>
              </a:rPr>
              <a:t>Aggiornabile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365760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3CC"/>
                </a:solidFill>
              </a:rPr>
              <a:t>Un miglioramento al prompt si distribuisce a tutto il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BB3CC"/>
                </a:solidFill>
              </a:rPr>
              <a:t>Le capability vivono nel Claude Registry: un repository Git con due livelli — catalog (sviluppo) e marketplace (distribuzione).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10 Capability Disponibili Oggi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577840" cy="91440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1097280"/>
            <a:ext cx="1234440" cy="2560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11155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A1E"/>
                </a:solidFill>
              </a:rPr>
              <a:t>STABLE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software-architect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447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Analisi architetturale, ADR, trade-off tra alternative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93392"/>
            <a:ext cx="5577840" cy="91440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2084832"/>
            <a:ext cx="1234440" cy="2560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103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A1E"/>
                </a:solidFill>
              </a:rPr>
              <a:t>STABLE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6654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functional-analyst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3230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Requisiti, use case, processi di business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80944"/>
            <a:ext cx="5577840" cy="91440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3072384"/>
            <a:ext cx="1234440" cy="2560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309067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A1E"/>
                </a:solidFill>
              </a:rPr>
              <a:t>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05409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developer-java-spring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1985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Sviluppo Java/Spring Boot enterprise-grade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68496"/>
            <a:ext cx="5577840" cy="91440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63440" y="4059936"/>
            <a:ext cx="1234440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407822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A1E"/>
                </a:solidFill>
              </a:rPr>
              <a:t>BETA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04164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technical-analyst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4074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Debito tecnico, sicurezza, dipendenze vulnerabili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56048"/>
            <a:ext cx="5577840" cy="91440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63440" y="5047488"/>
            <a:ext cx="1234440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506577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A1E"/>
                </a:solidFill>
              </a:rPr>
              <a:t>BETA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0292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developer-python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394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Sviluppo Python/FastAPI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005840"/>
            <a:ext cx="5577840" cy="91440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424160" y="1097280"/>
            <a:ext cx="1234440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69880" y="11155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A1E"/>
                </a:solidFill>
              </a:rPr>
              <a:t>BETA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107899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code-reviewer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14447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Code review strutturata su PR o file modificati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993392"/>
            <a:ext cx="5577840" cy="91440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424160" y="2084832"/>
            <a:ext cx="1234440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69880" y="2103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A1E"/>
                </a:solidFill>
              </a:rPr>
              <a:t>BETA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206654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test-writer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243230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Test JUnit 5, Mockito, Testcontainers, pytest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2980944"/>
            <a:ext cx="5577840" cy="91440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424160" y="3072384"/>
            <a:ext cx="1234440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69880" y="309067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A1E"/>
                </a:solidFill>
              </a:rPr>
              <a:t>BETA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305409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debugger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341985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Diagnosi bug da stack trace, log, codice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3968496"/>
            <a:ext cx="5577840" cy="91440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24160" y="4059936"/>
            <a:ext cx="1234440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69880" y="407822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A1E"/>
                </a:solidFill>
              </a:rPr>
              <a:t>BETA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404164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api-designer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44074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Design e review API REST + spec OpenAPI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956048"/>
            <a:ext cx="5577840" cy="91440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424160" y="5047488"/>
            <a:ext cx="1234440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69880" y="506577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A1E"/>
                </a:solidFill>
              </a:rPr>
              <a:t>BETA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50292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documentation-writer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5394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README, runbook, guide architetturali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Benefici — Persone e Onboarding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377440"/>
          </a:xfrm>
          <a:prstGeom prst="rect">
            <a:avLst/>
          </a:prstGeom>
          <a:solidFill>
            <a:srgbClr val="1E1633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855F7"/>
                </a:solidFill>
              </a:rPr>
              <a:t>01  La seniority diventa scalabile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3CC"/>
                </a:solidFill>
              </a:rPr>
              <a:t>Oggi la differenza di output tra senior e junior dipende da come sanno istruire Claude.
Con le capability condivise, le istruzioni del senior diventano lo standard per tutti.
Un junior che usa developer-java-spring produce codice con la stessa struttura architetturale,
gli stessi pattern di error handling e la stessa copertura di test di un senior esperto.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566160"/>
            <a:ext cx="11247120" cy="2377440"/>
          </a:xfrm>
          <a:prstGeom prst="rect">
            <a:avLst/>
          </a:prstGeom>
          <a:solidFill>
            <a:srgbClr val="1E1633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855F7"/>
                </a:solidFill>
              </a:rPr>
              <a:t>02  Onboarding in minuti, non in giorni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51960"/>
            <a:ext cx="347472" cy="34747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2702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2702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Clona il registry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251960"/>
            <a:ext cx="347472" cy="34747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8" y="42702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42702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Esegui setup-capabilities.sh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4251960"/>
            <a:ext cx="347472" cy="34747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07808" y="42702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2" y="42702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Apri 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3CC"/>
                </a:solidFill>
              </a:rPr>
              <a:t>Subito a disposizione tutte le capability del team — standard e convenzioni già incorporati.
Nessuna settimana di allineamento su "come usiamo Claude qui da noi".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Benefici — Qualità e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486400" cy="2560320"/>
          </a:xfrm>
          <a:prstGeom prst="rect">
            <a:avLst/>
          </a:prstGeom>
          <a:solidFill>
            <a:srgbClr val="1E1633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855F7"/>
                </a:solidFill>
              </a:rPr>
              <a:t>03  Qualità verificabile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3CC"/>
                </a:solidFill>
              </a:rPr>
              <a:t>• Pull Request con review obbligatoria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756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3CC"/>
                </a:solidFill>
              </a:rPr>
              <a:t>• GitHub Actions valida struttura e completezza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597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3CC"/>
                </a:solidFill>
              </a:rPr>
              <a:t>• SemVer: si sa cosa è cambiato e quando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437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3CC"/>
                </a:solidFill>
              </a:rPr>
              <a:t>• Un fix alla capability si propaga a tutto il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05840"/>
            <a:ext cx="5577840" cy="2560320"/>
          </a:xfrm>
          <a:prstGeom prst="rect">
            <a:avLst/>
          </a:prstGeom>
          <a:solidFill>
            <a:srgbClr val="1E1633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0972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855F7"/>
                </a:solidFill>
              </a:rPr>
              <a:t>04  Governance reale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3CC"/>
                </a:solidFill>
              </a:rPr>
              <a:t>• Branch main protetto — nessuna modifica senza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0756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3CC"/>
                </a:solidFill>
              </a:rPr>
              <a:t>• Chi ha proposto ogni modifica (git history)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5973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3CC"/>
                </a:solidFill>
              </a:rPr>
              <a:t>• Cosa è cambiato esattamente (diff)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4378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3CC"/>
                </a:solidFill>
              </a:rPr>
              <a:t>• Quando è stato approvato e da chi (PR history)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11247120" cy="1645920"/>
          </a:xfrm>
          <a:prstGeom prst="rect">
            <a:avLst/>
          </a:prstGeom>
          <a:solidFill>
            <a:srgbClr val="1E1633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855F7"/>
                </a:solidFill>
              </a:rPr>
              <a:t>05  Conoscenza che non si perde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891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3CC"/>
                </a:solidFill>
              </a:rPr>
              <a:t>Quando un collega esperto lascia il team o cambia progetto, le sue best practice restano nel registry.
La conoscenza è nell'organizzazione, non nelle persone. È un asset aziendale versionato.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55F7"/>
                </a:solidFill>
              </a:rPr>
              <a:t>Gli stessi standard che applichiamo al codice, applicati al comportamento dell'AI che aiuta a produrlo.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Come Funziona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645920" cy="1463040"/>
          </a:xfrm>
          <a:prstGeom prst="rect">
            <a:avLst/>
          </a:prstGeom>
          <a:solidFill>
            <a:srgbClr val="1E1633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1005840"/>
            <a:ext cx="457200" cy="4572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0241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Autore scrive
la 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169164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855F7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4288" y="1188720"/>
            <a:ext cx="1645920" cy="1463040"/>
          </a:xfrm>
          <a:prstGeom prst="rect">
            <a:avLst/>
          </a:prstGeom>
          <a:solidFill>
            <a:srgbClr val="1E1633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98648" y="1005840"/>
            <a:ext cx="457200" cy="4572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10241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146304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Pull Request
su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169164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855F7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51376" y="1188720"/>
            <a:ext cx="1645920" cy="1463040"/>
          </a:xfrm>
          <a:prstGeom prst="rect">
            <a:avLst/>
          </a:prstGeom>
          <a:solidFill>
            <a:srgbClr val="1E1633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45736" y="1005840"/>
            <a:ext cx="457200" cy="4572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45736" y="10241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2816" y="146304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GitHub Actions
valida automaticamente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4728" y="169164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855F7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98464" y="1188720"/>
            <a:ext cx="1645920" cy="1463040"/>
          </a:xfrm>
          <a:prstGeom prst="rect">
            <a:avLst/>
          </a:prstGeom>
          <a:solidFill>
            <a:srgbClr val="1E1633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92824" y="1005840"/>
            <a:ext cx="457200" cy="4572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2824" y="10241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9904" y="146304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Review manuale
del maintainer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1816" y="169164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855F7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45552" y="1188720"/>
            <a:ext cx="1645920" cy="1463040"/>
          </a:xfrm>
          <a:prstGeom prst="rect">
            <a:avLst/>
          </a:prstGeom>
          <a:solidFill>
            <a:srgbClr val="1E1633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39912" y="1005840"/>
            <a:ext cx="457200" cy="4572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9912" y="10241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146304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Pubblicazione
nel marketplace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18904" y="169164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855F7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1188720"/>
            <a:ext cx="1645920" cy="1463040"/>
          </a:xfrm>
          <a:prstGeom prst="rect">
            <a:avLst/>
          </a:prstGeom>
          <a:solidFill>
            <a:srgbClr val="1E1633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87000" y="1005840"/>
            <a:ext cx="457200" cy="4572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10241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146304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Il team installa
con uno script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855F7"/>
                </a:solidFill>
              </a:rPr>
              <a:t>Usare una capability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520440"/>
            <a:ext cx="5486400" cy="256032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36118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1. ./setup-capabilities.sh /path/to/project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0233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2. Seleziona le capability dalla lista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4348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3. I file .md vengono copiati in .claude/agents/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8463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4. Apri Claude Code — le capability sono attive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2578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5. Verifica con /agents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855F7"/>
                </a:solidFill>
              </a:rPr>
              <a:t>Contribuire una capability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520440"/>
            <a:ext cx="5303520" cy="256032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361188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1. ./new-capability.sh nome-capability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402336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2. Completa i TODO nel file .md generato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443484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3. Testa localmente copiando in .claude/agents/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484632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4. git commit + push + gh pr create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525780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5. Rispondi alla review di GitHub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Investimento vs. Ritorno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651760" cy="1463040"/>
          </a:xfrm>
          <a:prstGeom prst="rect">
            <a:avLst/>
          </a:prstGeom>
          <a:solidFill>
            <a:srgbClr val="1E1633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A855F7"/>
                </a:solidFill>
              </a:rPr>
              <a:t>€ 0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B3CC"/>
                </a:solidFill>
              </a:rPr>
              <a:t>Costo infrastruttura
(GitHub + Claude già in uso)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005840"/>
            <a:ext cx="2651760" cy="1463040"/>
          </a:xfrm>
          <a:prstGeom prst="rect">
            <a:avLst/>
          </a:prstGeom>
          <a:solidFill>
            <a:srgbClr val="1E1633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0972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A855F7"/>
                </a:solidFill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828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B3CC"/>
                </a:solidFill>
              </a:rPr>
              <a:t>Capability disponibili
già oggi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05840"/>
            <a:ext cx="2651760" cy="1463040"/>
          </a:xfrm>
          <a:prstGeom prst="rect">
            <a:avLst/>
          </a:prstGeom>
          <a:solidFill>
            <a:srgbClr val="1E1633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0972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A855F7"/>
                </a:solidFill>
              </a:rPr>
              <a:t>30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28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B3CC"/>
                </a:solidFill>
              </a:rPr>
              <a:t>Onboarding completo
di un nuovo membro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005840"/>
            <a:ext cx="2651760" cy="1463040"/>
          </a:xfrm>
          <a:prstGeom prst="rect">
            <a:avLst/>
          </a:prstGeom>
          <a:solidFill>
            <a:srgbClr val="1E1633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0972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A855F7"/>
                </a:solidFill>
              </a:rPr>
              <a:t>2–4 h/w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828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B3CC"/>
                </a:solidFill>
              </a:rPr>
              <a:t>Saving stimato
per developer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Saving per scenario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5669280" cy="34747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46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SAVING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47872"/>
            <a:ext cx="5669280" cy="50292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6118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Capability già pronta vs. prompt da zero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6118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20–40 min per task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50792"/>
            <a:ext cx="5669280" cy="502920"/>
          </a:xfrm>
          <a:prstGeom prst="rect">
            <a:avLst/>
          </a:prstGeom>
          <a:solidFill>
            <a:srgbClr val="0F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1148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Eliminazione rework da bassa qualità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114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1–2 h per sprint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53712"/>
            <a:ext cx="5669280" cy="50292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6177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Onboarding su standard Claude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617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1–2 giorni lavorativi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56632"/>
            <a:ext cx="5669280" cy="502920"/>
          </a:xfrm>
          <a:prstGeom prst="rect">
            <a:avLst/>
          </a:prstGeom>
          <a:solidFill>
            <a:srgbClr val="0F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1206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Identificazione regressioni comportamento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5120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Variabile — evita escalation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743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Costo di mantenimento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3200400"/>
            <a:ext cx="5303520" cy="34747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246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ATTIVITÀ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246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FREQ.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3246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EFFORT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547872"/>
            <a:ext cx="5303520" cy="50292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611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Review PR nuova capability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36118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A richiesta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36118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30–60 min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4050792"/>
            <a:ext cx="5303520" cy="502920"/>
          </a:xfrm>
          <a:prstGeom prst="rect">
            <a:avLst/>
          </a:prstGeom>
          <a:solidFill>
            <a:srgbClr val="0F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4114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Aggiornamento capability esistente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41148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Mensile ca.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41148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20–30 min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4553712"/>
            <a:ext cx="5303520" cy="50292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4617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Onboarding membro al registry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46177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3CC"/>
                </a:solidFill>
              </a:rPr>
              <a:t>Una tantum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4160" y="46177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30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855F7"/>
                </a:solidFill>
              </a:rPr>
              <a:t>Per un team di 5 developer, con 2 capability usate per task al giorno: saving stimato 2–4 h/settimana per persona.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Stato Attuale e Prossimi Passi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B3CC"/>
                </a:solidFill>
              </a:rPr>
              <a:t>Disponibile oggi — nessun costo aggiuntivo di setup.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664208"/>
            <a:ext cx="27432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280160" cy="41148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50876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0A1E"/>
                </a:solidFill>
              </a:rPr>
              <a:t>FATTO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417320"/>
            <a:ext cx="9509760" cy="50292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481328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Repository operativo, 10 capability, pipeline CI/CD configurata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414016"/>
            <a:ext cx="2743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128016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25856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0A1E"/>
                </a:solidFill>
              </a:rPr>
              <a:t>STEP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2167128"/>
            <a:ext cx="9509760" cy="50292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2231136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Adozione team: distribuire capability ai progetti attivi correnti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163824"/>
            <a:ext cx="2743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962656"/>
            <a:ext cx="1280160" cy="4114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008376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0A1E"/>
                </a:solidFill>
              </a:rPr>
              <a:t>STEP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2916936"/>
            <a:ext cx="9509760" cy="50292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2980944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Feedback loop: raccogliere feedback dopo 2–4 settimane di utilizzo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3913632"/>
            <a:ext cx="2743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712464"/>
            <a:ext cx="1280160" cy="4114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758184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0A1E"/>
                </a:solidFill>
              </a:rPr>
              <a:t>STEP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3666744"/>
            <a:ext cx="9509760" cy="50292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31720" y="3730752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Promozione beta → stable: stabilizzare le 7 capability beta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4663440"/>
            <a:ext cx="274320" cy="54864"/>
          </a:xfrm>
          <a:prstGeom prst="rect">
            <a:avLst/>
          </a:prstGeom>
          <a:solidFill>
            <a:srgbClr val="BB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462272"/>
            <a:ext cx="1280160" cy="411480"/>
          </a:xfrm>
          <a:prstGeom prst="rect">
            <a:avLst/>
          </a:prstGeom>
          <a:solidFill>
            <a:srgbClr val="BB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450799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0A1E"/>
                </a:solidFill>
              </a:rPr>
              <a:t>STEP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94560" y="4416552"/>
            <a:ext cx="9509760" cy="50292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1720" y="448056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Capability di dominio: developer-payments, analyst-compliance, ecc.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0" y="5413248"/>
            <a:ext cx="274320" cy="54864"/>
          </a:xfrm>
          <a:prstGeom prst="rect">
            <a:avLst/>
          </a:prstGeom>
          <a:solidFill>
            <a:srgbClr val="BB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212080"/>
            <a:ext cx="1280160" cy="411480"/>
          </a:xfrm>
          <a:prstGeom prst="rect">
            <a:avLst/>
          </a:prstGeom>
          <a:solidFill>
            <a:srgbClr val="BB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525780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0A1E"/>
                </a:solidFill>
              </a:rPr>
              <a:t>STEP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5166360"/>
            <a:ext cx="9509760" cy="50292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31720" y="5230368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Telemetria leggera: capire quali capability vengono usate di più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solidFill>
            <a:srgbClr val="1E1633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La domanda non è "vale la pena farlo?" — il registry è già operativo.
La domanda è: vogliamo che il valore di Claude Code rimanga frammentato o diventi un asset condiviso?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1E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Claude 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B3CC"/>
                </a:solidFill>
              </a:rPr>
              <a:t>Repository Git, PR reviews, versioning, automazione.
Gli stessi standard del codice, applicati all'AI.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55F7"/>
                </a:solidFill>
              </a:rPr>
              <a:t>github.com/luketherose/claude-registry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3716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855F7"/>
                </a:solidFill>
              </a:rPr>
              <a:t>In sintesi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011680"/>
            <a:ext cx="5760720" cy="749808"/>
          </a:xfrm>
          <a:prstGeom prst="rect">
            <a:avLst/>
          </a:prstGeom>
          <a:solidFill>
            <a:srgbClr val="0F0A1E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20665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</a:rPr>
              <a:t>Produttività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41401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3CC"/>
                </a:solidFill>
              </a:rPr>
              <a:t>Capability già pronte per ogni ruolo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852928"/>
            <a:ext cx="5760720" cy="749808"/>
          </a:xfrm>
          <a:prstGeom prst="rect">
            <a:avLst/>
          </a:prstGeom>
          <a:solidFill>
            <a:srgbClr val="0F0A1E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9077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</a:rPr>
              <a:t>Qualità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25526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3CC"/>
                </a:solidFill>
              </a:rPr>
              <a:t>PR review obbligatoria, validazione automatica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3694176"/>
            <a:ext cx="5760720" cy="749808"/>
          </a:xfrm>
          <a:prstGeom prst="rect">
            <a:avLst/>
          </a:prstGeom>
          <a:solidFill>
            <a:srgbClr val="0F0A1E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</a:rPr>
              <a:t>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0965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3CC"/>
                </a:solidFill>
              </a:rPr>
              <a:t>Tracciabilità completa di ogni modifica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4535424"/>
            <a:ext cx="5760720" cy="749808"/>
          </a:xfrm>
          <a:prstGeom prst="rect">
            <a:avLst/>
          </a:prstGeom>
          <a:solidFill>
            <a:srgbClr val="0F0A1E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45902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</a:rPr>
              <a:t>Scalabilità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937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3CC"/>
                </a:solidFill>
              </a:rPr>
              <a:t>La seniority del senior disponibile a tutti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5376672"/>
            <a:ext cx="5760720" cy="749808"/>
          </a:xfrm>
          <a:prstGeom prst="rect">
            <a:avLst/>
          </a:prstGeom>
          <a:solidFill>
            <a:srgbClr val="0F0A1E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54315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</a:rPr>
              <a:t>Conoscenza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57790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3CC"/>
                </a:solidFill>
              </a:rPr>
              <a:t>Le best practice restano nell'organizzazione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